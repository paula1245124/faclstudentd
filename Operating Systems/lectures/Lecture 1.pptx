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8" r:id="rId2"/>
    <p:sldId id="263" r:id="rId3"/>
    <p:sldId id="349" r:id="rId4"/>
    <p:sldId id="350"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31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48FC-2709-4092-9C71-B4B012FBEF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0E9B8E-7F06-4CE4-8F9A-A3A0AA5789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49FE10-E928-4FB7-8E8C-5BFD51D778DC}"/>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CAD77BDF-0D1A-4127-8FF2-228EDD7F7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0BDC0-116D-4682-9F59-E89D27783B1E}"/>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4057839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7208-3A1A-49C6-B571-03B3E1DF24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C8280C-A659-4353-824C-7320003EA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35AC1-2EC2-4988-B199-A2CBADC8BEAC}"/>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8469D8AB-F004-4FCC-8264-7FAED4728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B24F8F-FF6C-4C4A-B965-5C9716D57957}"/>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2842618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3211-A5FE-4CB9-9B31-F6EB341473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41F4EF-45FF-40A5-81CB-67BE96AB24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CA508E-6614-42BA-805C-AA46B9AE0603}"/>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071E7C64-CE12-4008-88A1-471317B52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F215B-FCCB-4388-BAB2-19CC55A2B643}"/>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3419139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484B-B840-4C4F-A39C-83139C43CE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3BDF8F-06A3-4FC2-B330-ED8C9514A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177E5-0741-4A28-8848-D959E673EA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D7AC58-FF35-4FE0-8CD8-8CF1A82C4893}"/>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6" name="Footer Placeholder 5">
            <a:extLst>
              <a:ext uri="{FF2B5EF4-FFF2-40B4-BE49-F238E27FC236}">
                <a16:creationId xmlns:a16="http://schemas.microsoft.com/office/drawing/2014/main" id="{671C3D06-D57E-4EE1-974B-5F356C9E02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F8049E-C0EC-4789-8728-9DFB741F1AFA}"/>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2216577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3BD44-473F-471D-B47A-0491E559D6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575A61-89AD-4964-B469-A71AF95FCB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155A65-7E9D-4403-8A82-42D0B3BEE9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04B9B8-A50F-440A-9A9E-C772976339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240275-CD3A-4E05-9FFA-78FA565C74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C03258-1964-40D4-9360-5F17EC58B6D0}"/>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8" name="Footer Placeholder 7">
            <a:extLst>
              <a:ext uri="{FF2B5EF4-FFF2-40B4-BE49-F238E27FC236}">
                <a16:creationId xmlns:a16="http://schemas.microsoft.com/office/drawing/2014/main" id="{96A64179-0552-4311-B399-A98DA7DD0D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A04EB2-2399-4454-B457-0F648F023522}"/>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184385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60F5-64FF-4153-A5E4-FDA3D33FDD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69ED87-580D-445A-A871-3BF6BEB5AC5F}"/>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4" name="Footer Placeholder 3">
            <a:extLst>
              <a:ext uri="{FF2B5EF4-FFF2-40B4-BE49-F238E27FC236}">
                <a16:creationId xmlns:a16="http://schemas.microsoft.com/office/drawing/2014/main" id="{D5A39207-E2FD-442D-AB35-746A1BAC6C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277685-3A67-48EE-A218-D03E74EFFC77}"/>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517745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5EA1F1-B2C2-446C-8FBD-4B1679961238}"/>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3" name="Footer Placeholder 2">
            <a:extLst>
              <a:ext uri="{FF2B5EF4-FFF2-40B4-BE49-F238E27FC236}">
                <a16:creationId xmlns:a16="http://schemas.microsoft.com/office/drawing/2014/main" id="{B35764A5-6828-4EDC-81A0-461A5172A9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CF06D4-6099-465D-A43F-FD7C96D8D8EA}"/>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975785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0C37-0A05-4A53-A9B2-6503AF9A3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99FB5E-C304-4CB4-AFE3-241197369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E069A3-17FE-48B2-8BA7-46992D45E1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B3048D-6D00-40E1-AB83-F27DEBE87AF4}"/>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6" name="Footer Placeholder 5">
            <a:extLst>
              <a:ext uri="{FF2B5EF4-FFF2-40B4-BE49-F238E27FC236}">
                <a16:creationId xmlns:a16="http://schemas.microsoft.com/office/drawing/2014/main" id="{AD21E2FB-6D66-44B3-A599-78F2548D1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C3984-F876-47FA-908B-CE5A35ADFA62}"/>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365453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536B-1BCD-4BD8-9C68-2AA5BE728B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0AC947-6397-4A37-87A2-E5498AB4E8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A0E9C9-B60E-4B4B-A9E1-C686C2628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A5A3C-8051-47A6-903A-46A6859C68F3}"/>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6" name="Footer Placeholder 5">
            <a:extLst>
              <a:ext uri="{FF2B5EF4-FFF2-40B4-BE49-F238E27FC236}">
                <a16:creationId xmlns:a16="http://schemas.microsoft.com/office/drawing/2014/main" id="{063E9483-1A43-4499-AB67-A403456222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A54777-F8FD-441A-87D4-D056278B5B54}"/>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412423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0BAD-2652-4EEF-89B2-A50C1D092C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A79A7B-3E03-4CB0-AECC-BE16544DBB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F682D-660C-42BB-A973-3067C2C0F987}"/>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713DEC4F-066A-4CB3-82B2-A7BCE95C7C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AE0DB5-4417-45F7-9A53-58365AAC93ED}"/>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1537256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893B9-78A9-46AD-9D0A-07DF9ECB87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4358A2-9FE9-4AFB-9D65-70988C9D24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2E7184-332D-4E83-B211-F6CF90BA283F}"/>
              </a:ext>
            </a:extLst>
          </p:cNvPr>
          <p:cNvSpPr>
            <a:spLocks noGrp="1"/>
          </p:cNvSpPr>
          <p:nvPr>
            <p:ph type="dt" sz="half" idx="10"/>
          </p:nvPr>
        </p:nvSpPr>
        <p:spPr/>
        <p:txBody>
          <a:body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86A74920-F507-452B-B56C-805EEA00B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670D85-BA1E-47FB-9671-3A4011DE069F}"/>
              </a:ext>
            </a:extLst>
          </p:cNvPr>
          <p:cNvSpPr>
            <a:spLocks noGrp="1"/>
          </p:cNvSpPr>
          <p:nvPr>
            <p:ph type="sldNum" sz="quarter" idx="12"/>
          </p:nvPr>
        </p:nvSpPr>
        <p:spPr/>
        <p:txBody>
          <a:bodyPr/>
          <a:lstStyle/>
          <a:p>
            <a:fld id="{C1C92EA8-A862-46A3-B35D-67C1CDA24B27}" type="slidenum">
              <a:rPr lang="en-US" smtClean="0"/>
              <a:t>‹#›</a:t>
            </a:fld>
            <a:endParaRPr lang="en-US"/>
          </a:p>
        </p:txBody>
      </p:sp>
    </p:spTree>
    <p:extLst>
      <p:ext uri="{BB962C8B-B14F-4D97-AF65-F5344CB8AC3E}">
        <p14:creationId xmlns:p14="http://schemas.microsoft.com/office/powerpoint/2010/main" val="4075040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81030B-F069-44BD-BF8C-049171D8E9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5FDCBC-EA2C-4601-9CE5-0C02E5950B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8A3723-AA05-4DFD-BFA7-F1289A921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56265E-E41E-45D3-A0FF-845F4A0370A1}" type="datetimeFigureOut">
              <a:rPr lang="en-US" smtClean="0"/>
              <a:t>2/17/2022</a:t>
            </a:fld>
            <a:endParaRPr lang="en-US"/>
          </a:p>
        </p:txBody>
      </p:sp>
      <p:sp>
        <p:nvSpPr>
          <p:cNvPr id="5" name="Footer Placeholder 4">
            <a:extLst>
              <a:ext uri="{FF2B5EF4-FFF2-40B4-BE49-F238E27FC236}">
                <a16:creationId xmlns:a16="http://schemas.microsoft.com/office/drawing/2014/main" id="{61B5FD3B-62A7-418D-B5DB-F7A785FF72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2EE168-703F-409C-876F-5C31E8E2F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92EA8-A862-46A3-B35D-67C1CDA24B27}" type="slidenum">
              <a:rPr lang="en-US" smtClean="0"/>
              <a:t>‹#›</a:t>
            </a:fld>
            <a:endParaRPr lang="en-US"/>
          </a:p>
        </p:txBody>
      </p:sp>
    </p:spTree>
    <p:extLst>
      <p:ext uri="{BB962C8B-B14F-4D97-AF65-F5344CB8AC3E}">
        <p14:creationId xmlns:p14="http://schemas.microsoft.com/office/powerpoint/2010/main" val="4093266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3200" b="1" dirty="0"/>
              <a:t>Course Title: Operating Systems</a:t>
            </a:r>
            <a:br>
              <a:rPr lang="en-US" sz="3200" b="1" dirty="0"/>
            </a:br>
            <a:r>
              <a:rPr lang="en-US" sz="3200" b="1" dirty="0"/>
              <a:t>Course Code: CS321</a:t>
            </a:r>
          </a:p>
        </p:txBody>
      </p:sp>
      <p:sp>
        <p:nvSpPr>
          <p:cNvPr id="4" name="Subtitle 3"/>
          <p:cNvSpPr>
            <a:spLocks noGrp="1"/>
          </p:cNvSpPr>
          <p:nvPr>
            <p:ph type="subTitle" idx="1"/>
          </p:nvPr>
        </p:nvSpPr>
        <p:spPr>
          <a:xfrm>
            <a:off x="3953003" y="3892214"/>
            <a:ext cx="3759362" cy="435312"/>
          </a:xfrm>
          <a:prstGeom prst="rect">
            <a:avLst/>
          </a:prstGeom>
        </p:spPr>
        <p:txBody>
          <a:bodyPr wrap="none">
            <a:spAutoFit/>
          </a:bodyPr>
          <a:lstStyle/>
          <a:p>
            <a:pPr algn="r">
              <a:lnSpc>
                <a:spcPct val="101000"/>
              </a:lnSpc>
              <a:buFont typeface="Times New Roman" charset="0"/>
              <a:buNone/>
              <a:defRPr/>
            </a:pPr>
            <a:r>
              <a:rPr lang="en-US" b="1" dirty="0">
                <a:solidFill>
                  <a:srgbClr val="002060"/>
                </a:solidFill>
                <a:latin typeface="Tahoma" charset="0"/>
                <a:cs typeface="Microsoft YaHei" charset="0"/>
              </a:rPr>
              <a:t>Prof. Khaled F. Hussain</a:t>
            </a:r>
          </a:p>
        </p:txBody>
      </p:sp>
      <p:sp>
        <p:nvSpPr>
          <p:cNvPr id="6" name="Text Box 2"/>
          <p:cNvSpPr txBox="1">
            <a:spLocks noChangeArrowheads="1"/>
          </p:cNvSpPr>
          <p:nvPr/>
        </p:nvSpPr>
        <p:spPr bwMode="auto">
          <a:xfrm>
            <a:off x="10001250" y="1247775"/>
            <a:ext cx="1333500" cy="381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900" b="1" dirty="0" err="1">
                <a:latin typeface="Calibri" pitchFamily="34" charset="0"/>
                <a:ea typeface="Arial" pitchFamily="34" charset="0"/>
                <a:cs typeface="Arial" pitchFamily="34" charset="0"/>
              </a:rPr>
              <a:t>Assiut</a:t>
            </a:r>
            <a:r>
              <a:rPr lang="en-US" sz="900" b="1" dirty="0">
                <a:latin typeface="Calibri" pitchFamily="34" charset="0"/>
                <a:ea typeface="Arial" pitchFamily="34" charset="0"/>
                <a:cs typeface="Arial" pitchFamily="34" charset="0"/>
              </a:rPr>
              <a:t> University</a:t>
            </a:r>
            <a:endParaRPr lang="en-US" dirty="0">
              <a:latin typeface="Arial" pitchFamily="34" charset="0"/>
              <a:cs typeface="Arial" pitchFamily="34" charset="0"/>
            </a:endParaRPr>
          </a:p>
        </p:txBody>
      </p:sp>
      <p:pic>
        <p:nvPicPr>
          <p:cNvPr id="7" name="Picture 6"/>
          <p:cNvPicPr/>
          <p:nvPr/>
        </p:nvPicPr>
        <p:blipFill>
          <a:blip r:embed="rId2" cstate="print"/>
          <a:srcRect/>
          <a:stretch>
            <a:fillRect/>
          </a:stretch>
        </p:blipFill>
        <p:spPr bwMode="auto">
          <a:xfrm>
            <a:off x="1698172" y="334327"/>
            <a:ext cx="866775" cy="1103948"/>
          </a:xfrm>
          <a:prstGeom prst="rect">
            <a:avLst/>
          </a:prstGeom>
          <a:noFill/>
          <a:ln w="9525">
            <a:noFill/>
            <a:miter lim="800000"/>
            <a:headEnd/>
            <a:tailEnd/>
          </a:ln>
        </p:spPr>
      </p:pic>
      <p:pic>
        <p:nvPicPr>
          <p:cNvPr id="1026" name="Picture 1" descr="Description: Assiut Univ">
            <a:extLst>
              <a:ext uri="{FF2B5EF4-FFF2-40B4-BE49-F238E27FC236}">
                <a16:creationId xmlns:a16="http://schemas.microsoft.com/office/drawing/2014/main" id="{2B9C1A82-8595-4121-B86E-D438A21B666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7709" y="457676"/>
            <a:ext cx="5429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WordArt 3">
            <a:extLst>
              <a:ext uri="{FF2B5EF4-FFF2-40B4-BE49-F238E27FC236}">
                <a16:creationId xmlns:a16="http://schemas.microsoft.com/office/drawing/2014/main" id="{FDBEE558-F756-4756-A81D-D251A5EF5D1B}"/>
              </a:ext>
            </a:extLst>
          </p:cNvPr>
          <p:cNvSpPr>
            <a:spLocks noChangeArrowheads="1" noChangeShapeType="1" noTextEdit="1"/>
          </p:cNvSpPr>
          <p:nvPr/>
        </p:nvSpPr>
        <p:spPr bwMode="auto">
          <a:xfrm>
            <a:off x="1401366" y="1317171"/>
            <a:ext cx="1357312" cy="285750"/>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ArchDown">
              <a:avLst>
                <a:gd name="adj" fmla="val 0"/>
              </a:avLst>
            </a:prstTxWarp>
          </a:bodyPr>
          <a:lstStyle/>
          <a:p>
            <a:pPr algn="ctr" rtl="1">
              <a:buNone/>
            </a:pPr>
            <a:r>
              <a:rPr lang="ar-EG" sz="900" kern="10" spc="0" dirty="0">
                <a:ln>
                  <a:noFill/>
                </a:ln>
                <a:solidFill>
                  <a:srgbClr val="000000"/>
                </a:solidFill>
                <a:effectLst/>
                <a:latin typeface="Times New Roman" panose="02020603050405020304" pitchFamily="18" charset="0"/>
                <a:cs typeface="Times New Roman" panose="02020603050405020304" pitchFamily="18" charset="0"/>
              </a:rPr>
              <a:t>كلية معتمدة من الهيئة القومية</a:t>
            </a:r>
          </a:p>
          <a:p>
            <a:pPr algn="ctr" rtl="1">
              <a:buNone/>
            </a:pPr>
            <a:r>
              <a:rPr lang="ar-EG" sz="900" kern="10" spc="0" dirty="0">
                <a:ln>
                  <a:noFill/>
                </a:ln>
                <a:solidFill>
                  <a:srgbClr val="000000"/>
                </a:solidFill>
                <a:effectLst/>
                <a:latin typeface="Times New Roman" panose="02020603050405020304" pitchFamily="18" charset="0"/>
                <a:cs typeface="Times New Roman" panose="02020603050405020304" pitchFamily="18" charset="0"/>
              </a:rPr>
              <a:t> لضمان جودة التعليم والاعتماد</a:t>
            </a:r>
            <a:endParaRPr lang="en-GB" sz="900" kern="10" spc="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946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1C7A-54D1-4CC2-A84E-F065FF872C0C}"/>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DDDD4ADD-046A-4F26-A55A-E6AD00ED4235}"/>
              </a:ext>
            </a:extLst>
          </p:cNvPr>
          <p:cNvSpPr>
            <a:spLocks noGrp="1"/>
          </p:cNvSpPr>
          <p:nvPr>
            <p:ph idx="1"/>
          </p:nvPr>
        </p:nvSpPr>
        <p:spPr/>
        <p:txBody>
          <a:bodyPr/>
          <a:lstStyle/>
          <a:p>
            <a:r>
              <a:rPr lang="en-US" b="0" i="0" dirty="0" err="1">
                <a:solidFill>
                  <a:srgbClr val="222222"/>
                </a:solidFill>
                <a:effectLst/>
                <a:latin typeface="Arial" panose="020B0604020202020204" pitchFamily="34" charset="0"/>
              </a:rPr>
              <a:t>Silberschatz</a:t>
            </a:r>
            <a:r>
              <a:rPr lang="en-US" b="0" i="0" dirty="0">
                <a:solidFill>
                  <a:srgbClr val="222222"/>
                </a:solidFill>
                <a:effectLst/>
                <a:latin typeface="Arial" panose="020B0604020202020204" pitchFamily="34" charset="0"/>
              </a:rPr>
              <a:t>, Abraham, Peter B. Galvin, and Greg Gagne. </a:t>
            </a:r>
            <a:r>
              <a:rPr lang="en-US" b="0" i="1" dirty="0">
                <a:solidFill>
                  <a:srgbClr val="222222"/>
                </a:solidFill>
                <a:effectLst/>
                <a:latin typeface="Arial" panose="020B0604020202020204" pitchFamily="34" charset="0"/>
              </a:rPr>
              <a:t>Operating system concepts</a:t>
            </a:r>
            <a:r>
              <a:rPr lang="en-US" b="0" i="0" dirty="0">
                <a:solidFill>
                  <a:srgbClr val="222222"/>
                </a:solidFill>
                <a:effectLst/>
                <a:latin typeface="Arial" panose="020B0604020202020204" pitchFamily="34" charset="0"/>
              </a:rPr>
              <a:t>. John Wiley &amp; Sons.</a:t>
            </a:r>
            <a:r>
              <a:rPr lang="en-US" dirty="0"/>
              <a:t> </a:t>
            </a:r>
          </a:p>
          <a:p>
            <a:pPr marL="0" indent="0">
              <a:buNone/>
            </a:pPr>
            <a:endParaRPr lang="en-US" dirty="0"/>
          </a:p>
        </p:txBody>
      </p:sp>
    </p:spTree>
    <p:extLst>
      <p:ext uri="{BB962C8B-B14F-4D97-AF65-F5344CB8AC3E}">
        <p14:creationId xmlns:p14="http://schemas.microsoft.com/office/powerpoint/2010/main" val="2592371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0633-B3CB-4D06-AC2B-F45B62B605E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7410491-4663-431D-B584-88AAA2785A1F}"/>
              </a:ext>
            </a:extLst>
          </p:cNvPr>
          <p:cNvSpPr>
            <a:spLocks noGrp="1"/>
          </p:cNvSpPr>
          <p:nvPr>
            <p:ph idx="1"/>
          </p:nvPr>
        </p:nvSpPr>
        <p:spPr/>
        <p:txBody>
          <a:bodyPr/>
          <a:lstStyle/>
          <a:p>
            <a:r>
              <a:rPr lang="en-US" sz="1800" b="0" i="0" u="none" strike="noStrike" baseline="0" dirty="0">
                <a:solidFill>
                  <a:srgbClr val="231F20"/>
                </a:solidFill>
                <a:latin typeface="Palatino-Roman"/>
              </a:rPr>
              <a:t>An </a:t>
            </a:r>
            <a:r>
              <a:rPr lang="en-US" sz="1800" b="1" i="0" u="none" strike="noStrike" baseline="0" dirty="0">
                <a:solidFill>
                  <a:srgbClr val="00AEF0"/>
                </a:solidFill>
                <a:latin typeface="Palatino-Bold"/>
              </a:rPr>
              <a:t>operating system </a:t>
            </a:r>
            <a:r>
              <a:rPr lang="en-US" sz="1800" b="0" i="0" u="none" strike="noStrike" baseline="0" dirty="0">
                <a:solidFill>
                  <a:srgbClr val="231F20"/>
                </a:solidFill>
                <a:latin typeface="Palatino-Roman"/>
              </a:rPr>
              <a:t>is a program that manages a computer’s hardware.</a:t>
            </a:r>
          </a:p>
          <a:p>
            <a:r>
              <a:rPr lang="en-US" sz="1800" dirty="0">
                <a:solidFill>
                  <a:srgbClr val="231F20"/>
                </a:solidFill>
                <a:latin typeface="Palatino-Roman"/>
              </a:rPr>
              <a:t>The purpose of an operating system is to provide an environment in which a user can execute programs in a convenient and efficient manner.</a:t>
            </a:r>
          </a:p>
          <a:p>
            <a:pPr algn="l"/>
            <a:r>
              <a:rPr lang="en-US" sz="1800" b="0" i="0" u="none" strike="noStrike" baseline="0" dirty="0">
                <a:solidFill>
                  <a:srgbClr val="231F20"/>
                </a:solidFill>
                <a:latin typeface="Palatino-Roman"/>
              </a:rPr>
              <a:t>Operating systems are designed to be </a:t>
            </a:r>
            <a:r>
              <a:rPr lang="en-US" sz="1800" b="1" i="1" u="none" strike="noStrike" baseline="0" dirty="0">
                <a:solidFill>
                  <a:srgbClr val="231F20"/>
                </a:solidFill>
                <a:latin typeface="Palatino-BoldItalic"/>
              </a:rPr>
              <a:t>convenient and</a:t>
            </a:r>
            <a:r>
              <a:rPr lang="en-US" sz="1800" b="0" i="0" u="none" strike="noStrike" baseline="0" dirty="0">
                <a:solidFill>
                  <a:srgbClr val="231F20"/>
                </a:solidFill>
                <a:latin typeface="Palatino-Roman"/>
              </a:rPr>
              <a:t> </a:t>
            </a:r>
            <a:r>
              <a:rPr lang="en-US" sz="1800" b="1" i="1" u="none" strike="noStrike" baseline="0" dirty="0">
                <a:solidFill>
                  <a:srgbClr val="231F20"/>
                </a:solidFill>
                <a:latin typeface="Palatino-BoldItalic"/>
              </a:rPr>
              <a:t>efficient</a:t>
            </a:r>
          </a:p>
        </p:txBody>
      </p:sp>
    </p:spTree>
    <p:extLst>
      <p:ext uri="{BB962C8B-B14F-4D97-AF65-F5344CB8AC3E}">
        <p14:creationId xmlns:p14="http://schemas.microsoft.com/office/powerpoint/2010/main" val="3791592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D3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E547C4-CE19-49CE-BADA-D9B8976731A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2800" kern="1200" dirty="0">
                <a:solidFill>
                  <a:srgbClr val="FFFFFF"/>
                </a:solidFill>
                <a:latin typeface="+mj-lt"/>
                <a:ea typeface="+mj-ea"/>
                <a:cs typeface="+mj-cs"/>
              </a:rPr>
              <a:t>Abstract view of the components of a computer system</a:t>
            </a:r>
          </a:p>
        </p:txBody>
      </p:sp>
      <p:pic>
        <p:nvPicPr>
          <p:cNvPr id="5" name="Content Placeholder 4" descr="Diagram&#10;&#10;Description automatically generated">
            <a:extLst>
              <a:ext uri="{FF2B5EF4-FFF2-40B4-BE49-F238E27FC236}">
                <a16:creationId xmlns:a16="http://schemas.microsoft.com/office/drawing/2014/main" id="{6BE045B7-19FD-4C1E-AB49-4FF4E74A4615}"/>
              </a:ext>
            </a:extLst>
          </p:cNvPr>
          <p:cNvPicPr>
            <a:picLocks noGrp="1" noChangeAspect="1"/>
          </p:cNvPicPr>
          <p:nvPr>
            <p:ph idx="1"/>
          </p:nvPr>
        </p:nvPicPr>
        <p:blipFill>
          <a:blip r:embed="rId2"/>
          <a:stretch>
            <a:fillRect/>
          </a:stretch>
        </p:blipFill>
        <p:spPr>
          <a:xfrm>
            <a:off x="4448584" y="640080"/>
            <a:ext cx="6866235" cy="5578816"/>
          </a:xfrm>
          <a:prstGeom prst="rect">
            <a:avLst/>
          </a:prstGeom>
        </p:spPr>
      </p:pic>
    </p:spTree>
    <p:extLst>
      <p:ext uri="{BB962C8B-B14F-4D97-AF65-F5344CB8AC3E}">
        <p14:creationId xmlns:p14="http://schemas.microsoft.com/office/powerpoint/2010/main" val="847210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D3E7-8D0D-44C8-AEFB-386C92DBCD93}"/>
              </a:ext>
            </a:extLst>
          </p:cNvPr>
          <p:cNvSpPr>
            <a:spLocks noGrp="1"/>
          </p:cNvSpPr>
          <p:nvPr>
            <p:ph type="title"/>
          </p:nvPr>
        </p:nvSpPr>
        <p:spPr/>
        <p:txBody>
          <a:bodyPr/>
          <a:lstStyle/>
          <a:p>
            <a:r>
              <a:rPr lang="en-US" dirty="0"/>
              <a:t>What Operating Systems Do</a:t>
            </a:r>
          </a:p>
        </p:txBody>
      </p:sp>
      <p:sp>
        <p:nvSpPr>
          <p:cNvPr id="3" name="Content Placeholder 2">
            <a:extLst>
              <a:ext uri="{FF2B5EF4-FFF2-40B4-BE49-F238E27FC236}">
                <a16:creationId xmlns:a16="http://schemas.microsoft.com/office/drawing/2014/main" id="{66D81BA7-1E71-4CA7-BD6C-41D36DC0E6D6}"/>
              </a:ext>
            </a:extLst>
          </p:cNvPr>
          <p:cNvSpPr>
            <a:spLocks noGrp="1"/>
          </p:cNvSpPr>
          <p:nvPr>
            <p:ph idx="1"/>
          </p:nvPr>
        </p:nvSpPr>
        <p:spPr/>
        <p:txBody>
          <a:bodyPr/>
          <a:lstStyle/>
          <a:p>
            <a:pPr marL="0" indent="0" algn="l">
              <a:buNone/>
            </a:pPr>
            <a:r>
              <a:rPr lang="en-US" sz="1800" b="0" i="0" u="none" strike="noStrike" baseline="0" dirty="0">
                <a:solidFill>
                  <a:srgbClr val="231F20"/>
                </a:solidFill>
                <a:latin typeface="Palatino-Roman"/>
              </a:rPr>
              <a:t>To understand more fully the operating system’s role, we next explore operating systems from two viewpoints: that of the user and that of the system.</a:t>
            </a:r>
          </a:p>
          <a:p>
            <a:pPr algn="l"/>
            <a:r>
              <a:rPr lang="en-US" sz="1800" b="0" i="0" u="none" strike="noStrike" baseline="0" dirty="0">
                <a:solidFill>
                  <a:srgbClr val="231F20"/>
                </a:solidFill>
                <a:latin typeface="HelveticaNeue-MediumExt"/>
              </a:rPr>
              <a:t>User View</a:t>
            </a:r>
          </a:p>
          <a:p>
            <a:pPr lvl="1"/>
            <a:r>
              <a:rPr lang="en-US" sz="1800" dirty="0">
                <a:solidFill>
                  <a:srgbClr val="231F20"/>
                </a:solidFill>
                <a:latin typeface="Palatino-Roman"/>
              </a:rPr>
              <a:t>The operating system is designed mostly for </a:t>
            </a:r>
            <a:r>
              <a:rPr lang="en-US" sz="1800" b="1" i="0" u="none" strike="noStrike" baseline="0" dirty="0">
                <a:solidFill>
                  <a:srgbClr val="00AEF0"/>
                </a:solidFill>
                <a:latin typeface="Palatino-Bold"/>
              </a:rPr>
              <a:t>ease of use</a:t>
            </a:r>
            <a:r>
              <a:rPr lang="en-US" sz="1800" b="0" i="0" u="none" strike="noStrike" baseline="0" dirty="0">
                <a:solidFill>
                  <a:srgbClr val="231F20"/>
                </a:solidFill>
                <a:latin typeface="Palatino-Roman"/>
              </a:rPr>
              <a:t>, with some attention paid to performance and none paid to </a:t>
            </a:r>
            <a:r>
              <a:rPr lang="en-US" sz="1800" b="1" i="0" u="none" strike="noStrike" baseline="0" dirty="0">
                <a:solidFill>
                  <a:srgbClr val="00AEF0"/>
                </a:solidFill>
                <a:latin typeface="Palatino-Bold"/>
              </a:rPr>
              <a:t>resource utilization</a:t>
            </a:r>
          </a:p>
          <a:p>
            <a:r>
              <a:rPr lang="en-US" sz="1800" b="0" i="0" u="none" strike="noStrike" baseline="0" dirty="0">
                <a:solidFill>
                  <a:srgbClr val="231F20"/>
                </a:solidFill>
                <a:latin typeface="HelveticaNeue-MediumExt"/>
              </a:rPr>
              <a:t>System View</a:t>
            </a:r>
            <a:endParaRPr lang="en-US" sz="1800" b="1" dirty="0">
              <a:solidFill>
                <a:srgbClr val="00AEF0"/>
              </a:solidFill>
              <a:latin typeface="Palatino-Bold"/>
            </a:endParaRPr>
          </a:p>
          <a:p>
            <a:pPr lvl="1"/>
            <a:r>
              <a:rPr lang="en-US" sz="1800" b="0" i="0" u="none" strike="noStrike" baseline="0" dirty="0">
                <a:solidFill>
                  <a:srgbClr val="231F20"/>
                </a:solidFill>
                <a:latin typeface="Palatino-Roman"/>
              </a:rPr>
              <a:t>We can view an operating system as a </a:t>
            </a:r>
            <a:r>
              <a:rPr lang="en-US" sz="1800" b="1" i="0" u="none" strike="noStrike" baseline="0" dirty="0">
                <a:solidFill>
                  <a:srgbClr val="00AEF0"/>
                </a:solidFill>
                <a:latin typeface="Palatino-Bold"/>
              </a:rPr>
              <a:t>resource allocator</a:t>
            </a:r>
            <a:r>
              <a:rPr lang="en-US" sz="1800" b="0" i="0" u="none" strike="noStrike" baseline="0" dirty="0">
                <a:solidFill>
                  <a:srgbClr val="231F20"/>
                </a:solidFill>
                <a:latin typeface="Palatino-Roman"/>
              </a:rPr>
              <a:t>.</a:t>
            </a:r>
          </a:p>
          <a:p>
            <a:pPr lvl="1"/>
            <a:r>
              <a:rPr lang="en-US" sz="1800" dirty="0">
                <a:solidFill>
                  <a:srgbClr val="231F20"/>
                </a:solidFill>
                <a:latin typeface="Palatino-Roman"/>
              </a:rPr>
              <a:t>A computer system has many resources that may be required to solve a problem: CPU time, memory space, file-storage space, I/O devices, and so on. The operating system acts as the manager of these resources.</a:t>
            </a:r>
          </a:p>
        </p:txBody>
      </p:sp>
    </p:spTree>
    <p:extLst>
      <p:ext uri="{BB962C8B-B14F-4D97-AF65-F5344CB8AC3E}">
        <p14:creationId xmlns:p14="http://schemas.microsoft.com/office/powerpoint/2010/main" val="3649425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0AAA9-471C-45F2-AFD3-3E11C98718D3}"/>
              </a:ext>
            </a:extLst>
          </p:cNvPr>
          <p:cNvSpPr>
            <a:spLocks noGrp="1"/>
          </p:cNvSpPr>
          <p:nvPr>
            <p:ph type="title"/>
          </p:nvPr>
        </p:nvSpPr>
        <p:spPr/>
        <p:txBody>
          <a:bodyPr/>
          <a:lstStyle/>
          <a:p>
            <a:r>
              <a:rPr lang="en-US" sz="4400" b="1" i="0" u="none" strike="noStrike" baseline="0" dirty="0">
                <a:solidFill>
                  <a:srgbClr val="00AEF0"/>
                </a:solidFill>
                <a:latin typeface="Palatino-Bold"/>
              </a:rPr>
              <a:t>Bootstrap program</a:t>
            </a:r>
            <a:endParaRPr lang="en-US" dirty="0"/>
          </a:p>
        </p:txBody>
      </p:sp>
      <p:sp>
        <p:nvSpPr>
          <p:cNvPr id="3" name="Content Placeholder 2">
            <a:extLst>
              <a:ext uri="{FF2B5EF4-FFF2-40B4-BE49-F238E27FC236}">
                <a16:creationId xmlns:a16="http://schemas.microsoft.com/office/drawing/2014/main" id="{B22AFDE3-8453-4593-9FF3-2EA331C27FA9}"/>
              </a:ext>
            </a:extLst>
          </p:cNvPr>
          <p:cNvSpPr>
            <a:spLocks noGrp="1"/>
          </p:cNvSpPr>
          <p:nvPr>
            <p:ph idx="1"/>
          </p:nvPr>
        </p:nvSpPr>
        <p:spPr/>
        <p:txBody>
          <a:bodyPr/>
          <a:lstStyle/>
          <a:p>
            <a:pPr algn="l"/>
            <a:r>
              <a:rPr lang="en-US" sz="1800" b="0" i="0" u="none" strike="noStrike" baseline="0" dirty="0">
                <a:solidFill>
                  <a:srgbClr val="231F20"/>
                </a:solidFill>
                <a:latin typeface="Palatino-Roman"/>
              </a:rPr>
              <a:t>For a computer to start running—for instance, when it is powered up or rebooted—it needs to have an initial program to run. This initial program, or </a:t>
            </a:r>
            <a:r>
              <a:rPr lang="en-US" sz="1800" b="1" i="0" u="none" strike="noStrike" baseline="0" dirty="0">
                <a:solidFill>
                  <a:srgbClr val="00AEF0"/>
                </a:solidFill>
                <a:latin typeface="Palatino-Bold"/>
              </a:rPr>
              <a:t>bootstrap program</a:t>
            </a:r>
            <a:r>
              <a:rPr lang="en-US" sz="1800" b="0" i="0" u="none" strike="noStrike" baseline="0" dirty="0">
                <a:solidFill>
                  <a:srgbClr val="231F20"/>
                </a:solidFill>
                <a:latin typeface="Palatino-Roman"/>
              </a:rPr>
              <a:t>, tends to be simple. Typically, it is stored within the computer hardware in read-only memory (</a:t>
            </a:r>
            <a:r>
              <a:rPr lang="en-US" sz="1800" b="1" i="0" u="none" strike="noStrike" baseline="0" dirty="0">
                <a:solidFill>
                  <a:srgbClr val="00AEF0"/>
                </a:solidFill>
                <a:latin typeface="Palatino-Bold"/>
              </a:rPr>
              <a:t>ROM</a:t>
            </a:r>
            <a:r>
              <a:rPr lang="en-US" sz="1800" b="0" i="0" u="none" strike="noStrike" baseline="0" dirty="0">
                <a:solidFill>
                  <a:srgbClr val="231F20"/>
                </a:solidFill>
                <a:latin typeface="Palatino-Roman"/>
              </a:rPr>
              <a:t>) or electrically erasable programmable read-only memory (</a:t>
            </a:r>
            <a:r>
              <a:rPr lang="en-US" sz="1800" b="1" i="0" u="none" strike="noStrike" baseline="0" dirty="0">
                <a:solidFill>
                  <a:srgbClr val="00AEF0"/>
                </a:solidFill>
                <a:latin typeface="Palatino-Bold"/>
              </a:rPr>
              <a:t>EEPROM</a:t>
            </a:r>
            <a:r>
              <a:rPr lang="en-US" sz="1800" b="0" i="0" u="none" strike="noStrike" baseline="0" dirty="0">
                <a:solidFill>
                  <a:srgbClr val="231F20"/>
                </a:solidFill>
                <a:latin typeface="Palatino-Roman"/>
              </a:rPr>
              <a:t>), known by the general term </a:t>
            </a:r>
            <a:r>
              <a:rPr lang="en-US" sz="1800" b="1" i="0" u="none" strike="noStrike" baseline="0" dirty="0">
                <a:solidFill>
                  <a:srgbClr val="00AEF0"/>
                </a:solidFill>
                <a:latin typeface="Palatino-Bold"/>
              </a:rPr>
              <a:t>firmware</a:t>
            </a:r>
            <a:r>
              <a:rPr lang="en-US" sz="1800" b="0" i="0" u="none" strike="noStrike" baseline="0" dirty="0">
                <a:solidFill>
                  <a:srgbClr val="231F20"/>
                </a:solidFill>
                <a:latin typeface="Palatino-Roman"/>
              </a:rPr>
              <a:t>. </a:t>
            </a:r>
          </a:p>
          <a:p>
            <a:pPr algn="l"/>
            <a:r>
              <a:rPr lang="en-US" sz="1800" b="0" i="0" u="none" strike="noStrike" baseline="0" dirty="0">
                <a:solidFill>
                  <a:srgbClr val="231F20"/>
                </a:solidFill>
                <a:latin typeface="Palatino-Roman"/>
              </a:rPr>
              <a:t>It initializes all aspects of the system, from CPU registers to device controllers to memory contents. The bootstrap program must know how to load the operating system and how to start executing that system.</a:t>
            </a:r>
            <a:endParaRPr lang="en-US" dirty="0"/>
          </a:p>
        </p:txBody>
      </p:sp>
    </p:spTree>
    <p:extLst>
      <p:ext uri="{BB962C8B-B14F-4D97-AF65-F5344CB8AC3E}">
        <p14:creationId xmlns:p14="http://schemas.microsoft.com/office/powerpoint/2010/main" val="273963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838EA-5969-4F0A-9B2A-42B4ABEA3FD2}"/>
              </a:ext>
            </a:extLst>
          </p:cNvPr>
          <p:cNvSpPr>
            <a:spLocks noGrp="1"/>
          </p:cNvSpPr>
          <p:nvPr>
            <p:ph type="title"/>
          </p:nvPr>
        </p:nvSpPr>
        <p:spPr/>
        <p:txBody>
          <a:bodyPr/>
          <a:lstStyle/>
          <a:p>
            <a:r>
              <a:rPr lang="en-US" dirty="0"/>
              <a:t>Interrupt</a:t>
            </a:r>
          </a:p>
        </p:txBody>
      </p:sp>
      <p:sp>
        <p:nvSpPr>
          <p:cNvPr id="3" name="Content Placeholder 2">
            <a:extLst>
              <a:ext uri="{FF2B5EF4-FFF2-40B4-BE49-F238E27FC236}">
                <a16:creationId xmlns:a16="http://schemas.microsoft.com/office/drawing/2014/main" id="{BFA9F05E-B1EA-4AAA-BEBF-2D7919081706}"/>
              </a:ext>
            </a:extLst>
          </p:cNvPr>
          <p:cNvSpPr>
            <a:spLocks noGrp="1"/>
          </p:cNvSpPr>
          <p:nvPr>
            <p:ph idx="1"/>
          </p:nvPr>
        </p:nvSpPr>
        <p:spPr/>
        <p:txBody>
          <a:bodyPr/>
          <a:lstStyle/>
          <a:p>
            <a:pPr algn="l"/>
            <a:r>
              <a:rPr lang="en-US" sz="1800" b="0" i="0" u="none" strike="noStrike" baseline="0" dirty="0">
                <a:solidFill>
                  <a:srgbClr val="231F20"/>
                </a:solidFill>
                <a:latin typeface="Palatino-Roman"/>
              </a:rPr>
              <a:t>The occurrence of an event is usually signaled by an </a:t>
            </a:r>
            <a:r>
              <a:rPr lang="en-US" sz="1800" b="1" i="0" u="none" strike="noStrike" baseline="0" dirty="0">
                <a:solidFill>
                  <a:srgbClr val="00AEF0"/>
                </a:solidFill>
                <a:latin typeface="Palatino-Bold"/>
              </a:rPr>
              <a:t>interrupt </a:t>
            </a:r>
            <a:r>
              <a:rPr lang="en-US" sz="1800" b="0" i="0" u="none" strike="noStrike" baseline="0" dirty="0">
                <a:solidFill>
                  <a:srgbClr val="231F20"/>
                </a:solidFill>
                <a:latin typeface="Palatino-Roman"/>
              </a:rPr>
              <a:t>from either the hardware or the software. </a:t>
            </a:r>
          </a:p>
          <a:p>
            <a:pPr lvl="1"/>
            <a:r>
              <a:rPr lang="en-US" sz="1800" b="0" i="0" u="none" strike="noStrike" baseline="0" dirty="0">
                <a:solidFill>
                  <a:srgbClr val="231F20"/>
                </a:solidFill>
                <a:latin typeface="Palatino-Roman"/>
              </a:rPr>
              <a:t>Hardware may trigger an interrupt at any time by sending a signal to the CPU, usually by way of the system bus. </a:t>
            </a:r>
          </a:p>
          <a:p>
            <a:pPr lvl="1"/>
            <a:r>
              <a:rPr lang="en-US" sz="1800" b="0" i="0" u="none" strike="noStrike" baseline="0" dirty="0">
                <a:solidFill>
                  <a:srgbClr val="231F20"/>
                </a:solidFill>
                <a:latin typeface="Palatino-Roman"/>
              </a:rPr>
              <a:t>Software may trigger an interrupt by executing a special operation called a </a:t>
            </a:r>
            <a:r>
              <a:rPr lang="en-US" sz="1800" b="1" i="0" u="none" strike="noStrike" baseline="0" dirty="0">
                <a:solidFill>
                  <a:srgbClr val="00AEF0"/>
                </a:solidFill>
                <a:latin typeface="Palatino-Bold"/>
              </a:rPr>
              <a:t>system call </a:t>
            </a:r>
            <a:r>
              <a:rPr lang="en-US" sz="1800" b="0" i="0" u="none" strike="noStrike" baseline="0" dirty="0">
                <a:solidFill>
                  <a:srgbClr val="231F20"/>
                </a:solidFill>
                <a:latin typeface="Palatino-Roman"/>
              </a:rPr>
              <a:t>(also called a </a:t>
            </a:r>
            <a:r>
              <a:rPr lang="en-US" sz="1800" b="1" i="0" u="none" strike="noStrike" baseline="0" dirty="0">
                <a:solidFill>
                  <a:srgbClr val="00AEF0"/>
                </a:solidFill>
                <a:latin typeface="Palatino-Bold"/>
              </a:rPr>
              <a:t>monitor call</a:t>
            </a:r>
            <a:r>
              <a:rPr lang="en-US" sz="1800" b="0" i="0" u="none" strike="noStrike" baseline="0" dirty="0">
                <a:solidFill>
                  <a:srgbClr val="231F20"/>
                </a:solidFill>
                <a:latin typeface="Palatino-Roman"/>
              </a:rPr>
              <a:t>).</a:t>
            </a:r>
          </a:p>
          <a:p>
            <a:pPr algn="l"/>
            <a:endParaRPr lang="en-US" sz="1800" b="0" i="0" u="none" strike="noStrike" baseline="0" dirty="0">
              <a:solidFill>
                <a:srgbClr val="231F20"/>
              </a:solidFill>
              <a:latin typeface="Palatino-Roman"/>
            </a:endParaRPr>
          </a:p>
          <a:p>
            <a:pPr algn="l"/>
            <a:r>
              <a:rPr lang="en-US" sz="1800" b="0" i="0" u="none" strike="noStrike" baseline="0" dirty="0">
                <a:solidFill>
                  <a:srgbClr val="231F20"/>
                </a:solidFill>
                <a:latin typeface="Palatino-Roman"/>
              </a:rPr>
              <a:t>When the CPU is interrupted, it stops what it is doing and immediately transfers execution to a fixed location. The fixed location usually contains the starting address where the service routine for the interrupt is located.</a:t>
            </a:r>
          </a:p>
          <a:p>
            <a:pPr algn="l"/>
            <a:endParaRPr lang="en-US" sz="1800" dirty="0">
              <a:solidFill>
                <a:srgbClr val="231F20"/>
              </a:solidFill>
              <a:latin typeface="Palatino-Roman"/>
            </a:endParaRPr>
          </a:p>
          <a:p>
            <a:pPr algn="l"/>
            <a:r>
              <a:rPr lang="en-GB" sz="1800" b="1" i="0" u="none" strike="noStrike" baseline="0" dirty="0">
                <a:solidFill>
                  <a:srgbClr val="00AEF0"/>
                </a:solidFill>
                <a:latin typeface="Palatino-Bold"/>
              </a:rPr>
              <a:t>Interrupt vector</a:t>
            </a:r>
            <a:r>
              <a:rPr lang="en-GB" sz="1800" b="0" i="0" u="none" strike="noStrike" baseline="0" dirty="0">
                <a:solidFill>
                  <a:srgbClr val="231F20"/>
                </a:solidFill>
                <a:latin typeface="Palatino-Roman"/>
              </a:rPr>
              <a:t>, of addresses is indexed by a unique device number, given with the interrupt request, to provide the address of the interrupt service routine for the interrupting device.</a:t>
            </a:r>
            <a:endParaRPr lang="en-US" dirty="0"/>
          </a:p>
        </p:txBody>
      </p:sp>
    </p:spTree>
    <p:extLst>
      <p:ext uri="{BB962C8B-B14F-4D97-AF65-F5344CB8AC3E}">
        <p14:creationId xmlns:p14="http://schemas.microsoft.com/office/powerpoint/2010/main" val="417175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A0878-19EB-448A-A14A-1F1E45C6F07F}"/>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Storage-device hierarchy</a:t>
            </a:r>
          </a:p>
        </p:txBody>
      </p:sp>
      <p:pic>
        <p:nvPicPr>
          <p:cNvPr id="5" name="Content Placeholder 4" descr="Diagram&#10;&#10;Description automatically generated">
            <a:extLst>
              <a:ext uri="{FF2B5EF4-FFF2-40B4-BE49-F238E27FC236}">
                <a16:creationId xmlns:a16="http://schemas.microsoft.com/office/drawing/2014/main" id="{FABC03F3-EF9C-4A8E-8CDC-E29637DB508E}"/>
              </a:ext>
            </a:extLst>
          </p:cNvPr>
          <p:cNvPicPr>
            <a:picLocks noGrp="1" noChangeAspect="1"/>
          </p:cNvPicPr>
          <p:nvPr>
            <p:ph idx="1"/>
          </p:nvPr>
        </p:nvPicPr>
        <p:blipFill>
          <a:blip r:embed="rId2"/>
          <a:stretch>
            <a:fillRect/>
          </a:stretch>
        </p:blipFill>
        <p:spPr>
          <a:xfrm>
            <a:off x="4823078" y="643466"/>
            <a:ext cx="6689175" cy="5568739"/>
          </a:xfrm>
          <a:prstGeom prst="rect">
            <a:avLst/>
          </a:prstGeom>
        </p:spPr>
      </p:pic>
    </p:spTree>
    <p:extLst>
      <p:ext uri="{BB962C8B-B14F-4D97-AF65-F5344CB8AC3E}">
        <p14:creationId xmlns:p14="http://schemas.microsoft.com/office/powerpoint/2010/main" val="350824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235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0D6088-400D-4481-8A3C-72501D00E9FA}"/>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Direct memory access (DMA)</a:t>
            </a:r>
          </a:p>
        </p:txBody>
      </p:sp>
      <p:pic>
        <p:nvPicPr>
          <p:cNvPr id="5" name="Content Placeholder 4" descr="Diagram&#10;&#10;Description automatically generated">
            <a:extLst>
              <a:ext uri="{FF2B5EF4-FFF2-40B4-BE49-F238E27FC236}">
                <a16:creationId xmlns:a16="http://schemas.microsoft.com/office/drawing/2014/main" id="{74181A02-AAC7-41EF-9813-DCA88DE234F0}"/>
              </a:ext>
            </a:extLst>
          </p:cNvPr>
          <p:cNvPicPr>
            <a:picLocks noGrp="1" noChangeAspect="1"/>
          </p:cNvPicPr>
          <p:nvPr>
            <p:ph idx="1"/>
          </p:nvPr>
        </p:nvPicPr>
        <p:blipFill>
          <a:blip r:embed="rId2"/>
          <a:stretch>
            <a:fillRect/>
          </a:stretch>
        </p:blipFill>
        <p:spPr>
          <a:xfrm>
            <a:off x="4550832" y="961812"/>
            <a:ext cx="6163734" cy="4930987"/>
          </a:xfrm>
          <a:prstGeom prst="rect">
            <a:avLst/>
          </a:prstGeom>
        </p:spPr>
      </p:pic>
    </p:spTree>
    <p:extLst>
      <p:ext uri="{BB962C8B-B14F-4D97-AF65-F5344CB8AC3E}">
        <p14:creationId xmlns:p14="http://schemas.microsoft.com/office/powerpoint/2010/main" val="3678244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44D5-8789-4551-8316-CDDA49BAF855}"/>
              </a:ext>
            </a:extLst>
          </p:cNvPr>
          <p:cNvSpPr>
            <a:spLocks noGrp="1"/>
          </p:cNvSpPr>
          <p:nvPr>
            <p:ph type="title"/>
          </p:nvPr>
        </p:nvSpPr>
        <p:spPr/>
        <p:txBody>
          <a:bodyPr/>
          <a:lstStyle/>
          <a:p>
            <a:r>
              <a:rPr lang="en-GB" dirty="0"/>
              <a:t>Dual-Mode and Multimode Operation</a:t>
            </a:r>
          </a:p>
        </p:txBody>
      </p:sp>
      <p:sp>
        <p:nvSpPr>
          <p:cNvPr id="3" name="Content Placeholder 2">
            <a:extLst>
              <a:ext uri="{FF2B5EF4-FFF2-40B4-BE49-F238E27FC236}">
                <a16:creationId xmlns:a16="http://schemas.microsoft.com/office/drawing/2014/main" id="{08D7ECA3-CCAD-4B51-BE75-9187CD29303C}"/>
              </a:ext>
            </a:extLst>
          </p:cNvPr>
          <p:cNvSpPr>
            <a:spLocks noGrp="1"/>
          </p:cNvSpPr>
          <p:nvPr>
            <p:ph idx="1"/>
          </p:nvPr>
        </p:nvSpPr>
        <p:spPr/>
        <p:txBody>
          <a:bodyPr/>
          <a:lstStyle/>
          <a:p>
            <a:pPr algn="l"/>
            <a:r>
              <a:rPr lang="en-GB" sz="1800" b="0" i="0" u="none" strike="noStrike" baseline="0" dirty="0">
                <a:solidFill>
                  <a:srgbClr val="231F20"/>
                </a:solidFill>
                <a:latin typeface="Palatino-Roman"/>
              </a:rPr>
              <a:t>At the very least, we need two separate </a:t>
            </a:r>
            <a:r>
              <a:rPr lang="en-GB" sz="1800" b="1" i="1" u="none" strike="noStrike" baseline="0" dirty="0">
                <a:solidFill>
                  <a:srgbClr val="231F20"/>
                </a:solidFill>
                <a:latin typeface="Palatino-BoldItalic"/>
              </a:rPr>
              <a:t>modes </a:t>
            </a:r>
            <a:r>
              <a:rPr lang="en-GB" sz="1800" b="0" i="0" u="none" strike="noStrike" baseline="0" dirty="0">
                <a:solidFill>
                  <a:srgbClr val="231F20"/>
                </a:solidFill>
                <a:latin typeface="Palatino-Roman"/>
              </a:rPr>
              <a:t>of operation: </a:t>
            </a:r>
            <a:r>
              <a:rPr lang="en-GB" sz="1800" b="1" i="0" u="none" strike="noStrike" baseline="0" dirty="0">
                <a:solidFill>
                  <a:srgbClr val="00AEF0"/>
                </a:solidFill>
                <a:latin typeface="Palatino-Bold"/>
              </a:rPr>
              <a:t>user mode </a:t>
            </a:r>
            <a:r>
              <a:rPr lang="en-GB" sz="1800" b="0" i="0" u="none" strike="noStrike" baseline="0" dirty="0">
                <a:solidFill>
                  <a:srgbClr val="231F20"/>
                </a:solidFill>
                <a:latin typeface="Palatino-Roman"/>
              </a:rPr>
              <a:t>and </a:t>
            </a:r>
            <a:r>
              <a:rPr lang="en-GB" sz="1800" b="1" i="0" u="none" strike="noStrike" baseline="0" dirty="0">
                <a:solidFill>
                  <a:srgbClr val="00AEF0"/>
                </a:solidFill>
                <a:latin typeface="Palatino-Bold"/>
              </a:rPr>
              <a:t>kernel mode </a:t>
            </a:r>
            <a:r>
              <a:rPr lang="en-GB" sz="1800" b="0" i="0" u="none" strike="noStrike" baseline="0" dirty="0">
                <a:solidFill>
                  <a:srgbClr val="231F20"/>
                </a:solidFill>
                <a:latin typeface="Palatino-Roman"/>
              </a:rPr>
              <a:t>(also called </a:t>
            </a:r>
            <a:r>
              <a:rPr lang="en-GB" sz="1800" b="1" i="0" u="none" strike="noStrike" baseline="0" dirty="0">
                <a:solidFill>
                  <a:srgbClr val="00AEF0"/>
                </a:solidFill>
                <a:latin typeface="Palatino-Bold"/>
              </a:rPr>
              <a:t>supervisor mode</a:t>
            </a:r>
            <a:r>
              <a:rPr lang="en-GB" sz="1800" b="0" i="0" u="none" strike="noStrike" baseline="0" dirty="0">
                <a:solidFill>
                  <a:srgbClr val="231F20"/>
                </a:solidFill>
                <a:latin typeface="Palatino-Roman"/>
              </a:rPr>
              <a:t>, </a:t>
            </a:r>
            <a:r>
              <a:rPr lang="en-GB" sz="1800" b="1" i="0" u="none" strike="noStrike" baseline="0" dirty="0">
                <a:solidFill>
                  <a:srgbClr val="00AEF0"/>
                </a:solidFill>
                <a:latin typeface="Palatino-Bold"/>
              </a:rPr>
              <a:t>system mode</a:t>
            </a:r>
            <a:r>
              <a:rPr lang="en-GB" sz="1800" b="0" i="0" u="none" strike="noStrike" baseline="0" dirty="0">
                <a:solidFill>
                  <a:srgbClr val="231F20"/>
                </a:solidFill>
                <a:latin typeface="Palatino-Roman"/>
              </a:rPr>
              <a:t>, or </a:t>
            </a:r>
            <a:r>
              <a:rPr lang="en-GB" sz="1800" b="1" i="0" u="none" strike="noStrike" baseline="0" dirty="0">
                <a:solidFill>
                  <a:srgbClr val="00AEF0"/>
                </a:solidFill>
                <a:latin typeface="Palatino-Bold"/>
              </a:rPr>
              <a:t>privileged mode</a:t>
            </a:r>
            <a:r>
              <a:rPr lang="en-GB" sz="1800" b="0" i="0" u="none" strike="noStrike" baseline="0" dirty="0">
                <a:solidFill>
                  <a:srgbClr val="231F20"/>
                </a:solidFill>
                <a:latin typeface="Palatino-Roman"/>
              </a:rPr>
              <a:t>). </a:t>
            </a:r>
          </a:p>
          <a:p>
            <a:pPr algn="l"/>
            <a:r>
              <a:rPr lang="en-GB" sz="1800" b="0" i="0" u="none" strike="noStrike" baseline="0" dirty="0">
                <a:solidFill>
                  <a:srgbClr val="231F20"/>
                </a:solidFill>
                <a:latin typeface="Palatino-Roman"/>
              </a:rPr>
              <a:t>A bit, called the </a:t>
            </a:r>
            <a:r>
              <a:rPr lang="en-GB" sz="1800" b="1" i="0" u="none" strike="noStrike" baseline="0" dirty="0">
                <a:solidFill>
                  <a:srgbClr val="00AEF0"/>
                </a:solidFill>
                <a:latin typeface="Palatino-Bold"/>
              </a:rPr>
              <a:t>mode bit</a:t>
            </a:r>
            <a:r>
              <a:rPr lang="en-GB" sz="1800" b="0" i="0" u="none" strike="noStrike" baseline="0" dirty="0">
                <a:solidFill>
                  <a:srgbClr val="231F20"/>
                </a:solidFill>
                <a:latin typeface="Palatino-Roman"/>
              </a:rPr>
              <a:t>, is added to the hardware of the computer to indicate the current mode: kernel (0) or user (1). With the mode bit, we can distinguish between a task that is executed on behalf of the operating system and one that is executed on behalf of the user. </a:t>
            </a:r>
          </a:p>
          <a:p>
            <a:pPr algn="l"/>
            <a:r>
              <a:rPr lang="en-GB" sz="1800" b="0" i="0" u="none" strike="noStrike" baseline="0" dirty="0">
                <a:solidFill>
                  <a:srgbClr val="231F20"/>
                </a:solidFill>
                <a:latin typeface="Palatino-Roman"/>
              </a:rPr>
              <a:t>When the computer system is executing on behalf of a user application, the system is in user mode. However, when a user application requests a service from the operating system (via a system call), the system must transition from user to kernel mode to fulfil the request.</a:t>
            </a:r>
          </a:p>
          <a:p>
            <a:pPr algn="l"/>
            <a:r>
              <a:rPr lang="en-GB" sz="1800" b="0" i="0" u="none" strike="noStrike" baseline="0" dirty="0">
                <a:solidFill>
                  <a:srgbClr val="231F20"/>
                </a:solidFill>
                <a:latin typeface="Palatino-Roman"/>
              </a:rPr>
              <a:t>If an attempt is made to execute a privileged instruction in user mode, the hardware does not execute the instruction but rather treats it as illegal and traps it to the operating system.</a:t>
            </a:r>
            <a:endParaRPr lang="en-GB" dirty="0"/>
          </a:p>
        </p:txBody>
      </p:sp>
    </p:spTree>
    <p:extLst>
      <p:ext uri="{BB962C8B-B14F-4D97-AF65-F5344CB8AC3E}">
        <p14:creationId xmlns:p14="http://schemas.microsoft.com/office/powerpoint/2010/main" val="2054222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FC94-49F7-4C55-80B6-B5B3D8510B0F}"/>
              </a:ext>
            </a:extLst>
          </p:cNvPr>
          <p:cNvSpPr>
            <a:spLocks noGrp="1"/>
          </p:cNvSpPr>
          <p:nvPr>
            <p:ph type="title"/>
          </p:nvPr>
        </p:nvSpPr>
        <p:spPr/>
        <p:txBody>
          <a:bodyPr/>
          <a:lstStyle/>
          <a:p>
            <a:r>
              <a:rPr lang="en-GB" dirty="0"/>
              <a:t>Process Management</a:t>
            </a:r>
          </a:p>
        </p:txBody>
      </p:sp>
      <p:sp>
        <p:nvSpPr>
          <p:cNvPr id="3" name="Content Placeholder 2">
            <a:extLst>
              <a:ext uri="{FF2B5EF4-FFF2-40B4-BE49-F238E27FC236}">
                <a16:creationId xmlns:a16="http://schemas.microsoft.com/office/drawing/2014/main" id="{0FBD80FD-51CF-421D-A9B6-0DDC2A52BC48}"/>
              </a:ext>
            </a:extLst>
          </p:cNvPr>
          <p:cNvSpPr>
            <a:spLocks noGrp="1"/>
          </p:cNvSpPr>
          <p:nvPr>
            <p:ph idx="1"/>
          </p:nvPr>
        </p:nvSpPr>
        <p:spPr/>
        <p:txBody>
          <a:bodyPr/>
          <a:lstStyle/>
          <a:p>
            <a:pPr algn="l"/>
            <a:r>
              <a:rPr lang="en-GB" sz="1800" b="0" i="0" u="none" strike="noStrike" baseline="0" dirty="0">
                <a:solidFill>
                  <a:srgbClr val="231F20"/>
                </a:solidFill>
                <a:latin typeface="Palatino-Roman"/>
              </a:rPr>
              <a:t>We emphasize that a program by itself is not a process. A program is a </a:t>
            </a:r>
            <a:r>
              <a:rPr lang="en-GB" sz="1800" b="1" i="1" u="none" strike="noStrike" baseline="0" dirty="0">
                <a:solidFill>
                  <a:srgbClr val="231F20"/>
                </a:solidFill>
                <a:latin typeface="Palatino-BoldItalic"/>
              </a:rPr>
              <a:t>passive </a:t>
            </a:r>
            <a:r>
              <a:rPr lang="en-GB" sz="1800" b="0" i="0" u="none" strike="noStrike" baseline="0" dirty="0">
                <a:solidFill>
                  <a:srgbClr val="231F20"/>
                </a:solidFill>
                <a:latin typeface="Palatino-Roman"/>
              </a:rPr>
              <a:t>entity, like the contents of a file stored on disk, whereas a process is an </a:t>
            </a:r>
            <a:r>
              <a:rPr lang="en-GB" sz="1800" b="1" i="1" u="none" strike="noStrike" baseline="0" dirty="0">
                <a:solidFill>
                  <a:srgbClr val="231F20"/>
                </a:solidFill>
                <a:latin typeface="Palatino-BoldItalic"/>
              </a:rPr>
              <a:t>active </a:t>
            </a:r>
            <a:r>
              <a:rPr lang="en-GB" sz="1800" b="0" i="0" u="none" strike="noStrike" baseline="0" dirty="0">
                <a:solidFill>
                  <a:srgbClr val="231F20"/>
                </a:solidFill>
                <a:latin typeface="Palatino-Roman"/>
              </a:rPr>
              <a:t>entity.</a:t>
            </a:r>
          </a:p>
          <a:p>
            <a:pPr algn="l"/>
            <a:r>
              <a:rPr lang="en-GB" sz="1800" b="0" i="0" u="none" strike="noStrike" baseline="0" dirty="0">
                <a:solidFill>
                  <a:srgbClr val="231F20"/>
                </a:solidFill>
                <a:latin typeface="Palatino-Roman"/>
              </a:rPr>
              <a:t>The operating system is responsible for the following activities in connection with process management:</a:t>
            </a:r>
          </a:p>
          <a:p>
            <a:pPr lvl="1"/>
            <a:r>
              <a:rPr lang="en-GB" sz="2000" b="0" i="0" u="none" strike="noStrike" baseline="0" dirty="0">
                <a:solidFill>
                  <a:srgbClr val="231F20"/>
                </a:solidFill>
                <a:latin typeface="Palatino-Roman"/>
              </a:rPr>
              <a:t>Scheduling processes and threads on the CPUs</a:t>
            </a:r>
          </a:p>
          <a:p>
            <a:pPr lvl="1"/>
            <a:r>
              <a:rPr lang="en-GB" sz="2000" b="0" i="0" u="none" strike="noStrike" baseline="0" dirty="0">
                <a:solidFill>
                  <a:srgbClr val="231F20"/>
                </a:solidFill>
                <a:latin typeface="Palatino-Roman"/>
              </a:rPr>
              <a:t>Creating and deleting both user and system processes</a:t>
            </a:r>
          </a:p>
          <a:p>
            <a:pPr lvl="1"/>
            <a:r>
              <a:rPr lang="en-GB" sz="2000" b="0" i="0" u="none" strike="noStrike" baseline="0" dirty="0">
                <a:solidFill>
                  <a:srgbClr val="231F20"/>
                </a:solidFill>
                <a:latin typeface="Palatino-Roman"/>
              </a:rPr>
              <a:t>Suspending and resuming processes</a:t>
            </a:r>
          </a:p>
          <a:p>
            <a:pPr lvl="1"/>
            <a:r>
              <a:rPr lang="en-GB" sz="2000" b="0" i="0" u="none" strike="noStrike" baseline="0" dirty="0">
                <a:solidFill>
                  <a:srgbClr val="231F20"/>
                </a:solidFill>
                <a:latin typeface="Palatino-Roman"/>
              </a:rPr>
              <a:t>Providing mechanisms for process synchronization</a:t>
            </a:r>
          </a:p>
          <a:p>
            <a:pPr lvl="1"/>
            <a:r>
              <a:rPr lang="en-GB" sz="2000" b="0" i="0" u="none" strike="noStrike" baseline="0" dirty="0">
                <a:solidFill>
                  <a:srgbClr val="231F20"/>
                </a:solidFill>
                <a:latin typeface="Palatino-Roman"/>
              </a:rPr>
              <a:t>Providing mechanisms for process communication</a:t>
            </a:r>
          </a:p>
          <a:p>
            <a:pPr algn="l"/>
            <a:endParaRPr lang="en-GB" dirty="0"/>
          </a:p>
        </p:txBody>
      </p:sp>
    </p:spTree>
    <p:extLst>
      <p:ext uri="{BB962C8B-B14F-4D97-AF65-F5344CB8AC3E}">
        <p14:creationId xmlns:p14="http://schemas.microsoft.com/office/powerpoint/2010/main" val="1524153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8453-453B-477D-A62C-8184DCAF339A}"/>
              </a:ext>
            </a:extLst>
          </p:cNvPr>
          <p:cNvSpPr>
            <a:spLocks noGrp="1"/>
          </p:cNvSpPr>
          <p:nvPr>
            <p:ph type="title"/>
          </p:nvPr>
        </p:nvSpPr>
        <p:spPr/>
        <p:txBody>
          <a:bodyPr/>
          <a:lstStyle/>
          <a:p>
            <a:r>
              <a:rPr lang="en-GB" dirty="0"/>
              <a:t>Memory Management</a:t>
            </a:r>
          </a:p>
        </p:txBody>
      </p:sp>
      <p:sp>
        <p:nvSpPr>
          <p:cNvPr id="3" name="Content Placeholder 2">
            <a:extLst>
              <a:ext uri="{FF2B5EF4-FFF2-40B4-BE49-F238E27FC236}">
                <a16:creationId xmlns:a16="http://schemas.microsoft.com/office/drawing/2014/main" id="{8FD64549-43D5-43DB-9D40-4B80F0DE2FBB}"/>
              </a:ext>
            </a:extLst>
          </p:cNvPr>
          <p:cNvSpPr>
            <a:spLocks noGrp="1"/>
          </p:cNvSpPr>
          <p:nvPr>
            <p:ph idx="1"/>
          </p:nvPr>
        </p:nvSpPr>
        <p:spPr/>
        <p:txBody>
          <a:bodyPr/>
          <a:lstStyle/>
          <a:p>
            <a:pPr algn="l"/>
            <a:r>
              <a:rPr lang="en-GB" sz="1800" b="0" i="0" u="none" strike="noStrike" baseline="0" dirty="0">
                <a:solidFill>
                  <a:srgbClr val="231F20"/>
                </a:solidFill>
                <a:latin typeface="Palatino-Roman"/>
              </a:rPr>
              <a:t>Main memory is a large array of bytes, ranging in size from hundreds of thousands to billions. Each byte has its own address. Main memory is a repository of quickly accessible data shared by the CPU and I/O devices.</a:t>
            </a:r>
          </a:p>
          <a:p>
            <a:pPr algn="l"/>
            <a:r>
              <a:rPr lang="en-GB" sz="1800" b="0" i="0" u="none" strike="noStrike" baseline="0" dirty="0">
                <a:solidFill>
                  <a:srgbClr val="231F20"/>
                </a:solidFill>
                <a:latin typeface="Palatino-Roman"/>
              </a:rPr>
              <a:t>The operating system is responsible for the following activities in connection with memory management:</a:t>
            </a:r>
          </a:p>
          <a:p>
            <a:pPr lvl="1"/>
            <a:r>
              <a:rPr lang="en-GB" sz="1800" b="0" i="0" u="none" strike="noStrike" baseline="0" dirty="0">
                <a:solidFill>
                  <a:srgbClr val="231F20"/>
                </a:solidFill>
                <a:latin typeface="Palatino-Roman"/>
              </a:rPr>
              <a:t>Keeping track of which parts of memory are currently being used and who is using them</a:t>
            </a:r>
          </a:p>
          <a:p>
            <a:pPr lvl="1"/>
            <a:r>
              <a:rPr lang="en-GB" sz="1800" b="0" i="0" u="none" strike="noStrike" baseline="0" dirty="0">
                <a:solidFill>
                  <a:srgbClr val="231F20"/>
                </a:solidFill>
                <a:latin typeface="Palatino-Roman"/>
              </a:rPr>
              <a:t>Deciding which processes (or parts of processes) and data to move into and out of memory</a:t>
            </a:r>
          </a:p>
          <a:p>
            <a:pPr lvl="1"/>
            <a:r>
              <a:rPr lang="en-GB" sz="1800" b="0" i="0" u="none" strike="noStrike" baseline="0" dirty="0">
                <a:solidFill>
                  <a:srgbClr val="231F20"/>
                </a:solidFill>
                <a:latin typeface="Palatino-Roman"/>
              </a:rPr>
              <a:t>Allocating and deallocating memory space as needed</a:t>
            </a:r>
            <a:endParaRPr lang="en-GB" sz="1800" dirty="0"/>
          </a:p>
        </p:txBody>
      </p:sp>
    </p:spTree>
    <p:extLst>
      <p:ext uri="{BB962C8B-B14F-4D97-AF65-F5344CB8AC3E}">
        <p14:creationId xmlns:p14="http://schemas.microsoft.com/office/powerpoint/2010/main" val="504316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5D806-FC22-4BA1-A65A-25FFDFE8D2AE}"/>
              </a:ext>
            </a:extLst>
          </p:cNvPr>
          <p:cNvSpPr>
            <a:spLocks noGrp="1"/>
          </p:cNvSpPr>
          <p:nvPr>
            <p:ph type="title"/>
          </p:nvPr>
        </p:nvSpPr>
        <p:spPr/>
        <p:txBody>
          <a:bodyPr/>
          <a:lstStyle/>
          <a:p>
            <a:r>
              <a:rPr lang="en-GB" dirty="0"/>
              <a:t>Storage Management</a:t>
            </a:r>
          </a:p>
        </p:txBody>
      </p:sp>
      <p:sp>
        <p:nvSpPr>
          <p:cNvPr id="3" name="Content Placeholder 2">
            <a:extLst>
              <a:ext uri="{FF2B5EF4-FFF2-40B4-BE49-F238E27FC236}">
                <a16:creationId xmlns:a16="http://schemas.microsoft.com/office/drawing/2014/main" id="{747B163C-6D10-45F1-93D8-CE636B892DE5}"/>
              </a:ext>
            </a:extLst>
          </p:cNvPr>
          <p:cNvSpPr>
            <a:spLocks noGrp="1"/>
          </p:cNvSpPr>
          <p:nvPr>
            <p:ph idx="1"/>
          </p:nvPr>
        </p:nvSpPr>
        <p:spPr/>
        <p:txBody>
          <a:bodyPr>
            <a:normAutofit fontScale="92500" lnSpcReduction="10000"/>
          </a:bodyPr>
          <a:lstStyle/>
          <a:p>
            <a:r>
              <a:rPr lang="en-GB" sz="1800" b="0" i="0" u="none" strike="noStrike" baseline="0" dirty="0">
                <a:solidFill>
                  <a:srgbClr val="231F20"/>
                </a:solidFill>
                <a:latin typeface="HelveticaNeue-MediumExt"/>
              </a:rPr>
              <a:t>File-System Management: </a:t>
            </a:r>
            <a:r>
              <a:rPr lang="en-GB" sz="1800" b="0" i="0" u="none" strike="noStrike" baseline="0" dirty="0">
                <a:solidFill>
                  <a:srgbClr val="231F20"/>
                </a:solidFill>
                <a:latin typeface="Palatino-Roman"/>
              </a:rPr>
              <a:t>The operating system is responsible for the following activities in connection with file management:</a:t>
            </a:r>
          </a:p>
          <a:p>
            <a:pPr lvl="1"/>
            <a:r>
              <a:rPr lang="en-GB" sz="1800" b="0" i="0" u="none" strike="noStrike" baseline="0" dirty="0">
                <a:solidFill>
                  <a:srgbClr val="231F20"/>
                </a:solidFill>
                <a:latin typeface="Palatino-Roman"/>
              </a:rPr>
              <a:t>Creating and deleting files</a:t>
            </a:r>
            <a:endParaRPr lang="en-GB" sz="1800" dirty="0">
              <a:solidFill>
                <a:srgbClr val="231F20"/>
              </a:solidFill>
              <a:latin typeface="HelveticaNeue-MediumExt"/>
            </a:endParaRPr>
          </a:p>
          <a:p>
            <a:pPr lvl="1"/>
            <a:r>
              <a:rPr lang="en-GB" sz="1800" b="0" i="0" u="none" strike="noStrike" baseline="0" dirty="0">
                <a:solidFill>
                  <a:srgbClr val="231F20"/>
                </a:solidFill>
                <a:latin typeface="Palatino-Roman"/>
              </a:rPr>
              <a:t>Creating and deleting directories to organize files</a:t>
            </a:r>
          </a:p>
          <a:p>
            <a:pPr lvl="1"/>
            <a:r>
              <a:rPr lang="en-GB" sz="1800" b="0" i="0" u="none" strike="noStrike" baseline="0" dirty="0">
                <a:solidFill>
                  <a:srgbClr val="231F20"/>
                </a:solidFill>
                <a:latin typeface="Palatino-Roman"/>
              </a:rPr>
              <a:t>Supporting primitives for manipulating files and directories</a:t>
            </a:r>
          </a:p>
          <a:p>
            <a:pPr lvl="1"/>
            <a:r>
              <a:rPr lang="en-GB" sz="1800" b="0" i="0" u="none" strike="noStrike" baseline="0" dirty="0">
                <a:solidFill>
                  <a:srgbClr val="231F20"/>
                </a:solidFill>
                <a:latin typeface="Palatino-Roman"/>
              </a:rPr>
              <a:t>Mapping files onto secondary storage</a:t>
            </a:r>
          </a:p>
          <a:p>
            <a:pPr lvl="1"/>
            <a:r>
              <a:rPr lang="en-GB" sz="1800" b="0" i="0" u="none" strike="noStrike" baseline="0" dirty="0">
                <a:solidFill>
                  <a:srgbClr val="231F20"/>
                </a:solidFill>
                <a:latin typeface="Palatino-Roman"/>
              </a:rPr>
              <a:t>Backing up files on stable (</a:t>
            </a:r>
            <a:r>
              <a:rPr lang="en-GB" sz="1800" b="0" i="0" u="none" strike="noStrike" baseline="0" dirty="0" err="1">
                <a:solidFill>
                  <a:srgbClr val="231F20"/>
                </a:solidFill>
                <a:latin typeface="Palatino-Roman"/>
              </a:rPr>
              <a:t>nonvolatile</a:t>
            </a:r>
            <a:r>
              <a:rPr lang="en-GB" sz="1800" b="0" i="0" u="none" strike="noStrike" baseline="0" dirty="0">
                <a:solidFill>
                  <a:srgbClr val="231F20"/>
                </a:solidFill>
                <a:latin typeface="Palatino-Roman"/>
              </a:rPr>
              <a:t>) storage media</a:t>
            </a:r>
          </a:p>
          <a:p>
            <a:pPr lvl="1"/>
            <a:endParaRPr lang="en-GB" sz="1400" dirty="0">
              <a:solidFill>
                <a:srgbClr val="231F20"/>
              </a:solidFill>
              <a:latin typeface="Palatino-Roman"/>
            </a:endParaRPr>
          </a:p>
          <a:p>
            <a:pPr algn="l"/>
            <a:r>
              <a:rPr lang="en-GB" sz="2200" b="0" i="0" u="none" strike="noStrike" baseline="0" dirty="0">
                <a:solidFill>
                  <a:srgbClr val="231F20"/>
                </a:solidFill>
                <a:latin typeface="HelveticaNeue-MediumExt"/>
              </a:rPr>
              <a:t>Mass-Storage Management: </a:t>
            </a:r>
            <a:r>
              <a:rPr lang="en-GB" sz="1800" b="0" i="0" u="none" strike="noStrike" baseline="0" dirty="0">
                <a:solidFill>
                  <a:srgbClr val="231F20"/>
                </a:solidFill>
                <a:latin typeface="Palatino-Roman"/>
              </a:rPr>
              <a:t>The operating system is responsible for the following activities in connection with disk management</a:t>
            </a:r>
          </a:p>
          <a:p>
            <a:pPr lvl="1"/>
            <a:r>
              <a:rPr lang="en-GB" sz="1800" b="0" i="0" u="none" strike="noStrike" baseline="0" dirty="0">
                <a:solidFill>
                  <a:srgbClr val="231F20"/>
                </a:solidFill>
                <a:latin typeface="Palatino-Roman"/>
              </a:rPr>
              <a:t>Free-space management</a:t>
            </a:r>
          </a:p>
          <a:p>
            <a:pPr lvl="1"/>
            <a:r>
              <a:rPr lang="en-GB" sz="1800" b="0" i="0" u="none" strike="noStrike" baseline="0" dirty="0">
                <a:solidFill>
                  <a:srgbClr val="231F20"/>
                </a:solidFill>
                <a:latin typeface="Palatino-Roman"/>
              </a:rPr>
              <a:t>Storage allocation</a:t>
            </a:r>
          </a:p>
          <a:p>
            <a:pPr lvl="1"/>
            <a:r>
              <a:rPr lang="en-GB" sz="1800" b="0" i="0" u="none" strike="noStrike" baseline="0" dirty="0">
                <a:solidFill>
                  <a:srgbClr val="231F20"/>
                </a:solidFill>
                <a:latin typeface="Palatino-Roman"/>
              </a:rPr>
              <a:t>Disk scheduling</a:t>
            </a:r>
          </a:p>
          <a:p>
            <a:pPr algn="l"/>
            <a:r>
              <a:rPr lang="en-GB" sz="1800" b="0" i="0" u="none" strike="noStrike" baseline="0" dirty="0">
                <a:solidFill>
                  <a:srgbClr val="231F20"/>
                </a:solidFill>
                <a:latin typeface="Palatino-Roman"/>
              </a:rPr>
              <a:t>Because secondary storage is used frequently, it must be used efficiently. The entire speed of operation of a computer may hinge on the speeds of the disk subsystem and the algorithms that manipulate that subsystem.</a:t>
            </a:r>
            <a:endParaRPr lang="en-GB" dirty="0"/>
          </a:p>
        </p:txBody>
      </p:sp>
    </p:spTree>
    <p:extLst>
      <p:ext uri="{BB962C8B-B14F-4D97-AF65-F5344CB8AC3E}">
        <p14:creationId xmlns:p14="http://schemas.microsoft.com/office/powerpoint/2010/main" val="1513362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291E5-EB67-43AB-93A7-2A88678B6879}"/>
              </a:ext>
            </a:extLst>
          </p:cNvPr>
          <p:cNvSpPr>
            <a:spLocks noGrp="1"/>
          </p:cNvSpPr>
          <p:nvPr>
            <p:ph type="title"/>
          </p:nvPr>
        </p:nvSpPr>
        <p:spPr/>
        <p:txBody>
          <a:bodyPr/>
          <a:lstStyle/>
          <a:p>
            <a:r>
              <a:rPr lang="en-GB" dirty="0"/>
              <a:t>Caching</a:t>
            </a:r>
          </a:p>
        </p:txBody>
      </p:sp>
      <p:pic>
        <p:nvPicPr>
          <p:cNvPr id="5" name="Content Placeholder 4" descr="Table&#10;&#10;Description automatically generated">
            <a:extLst>
              <a:ext uri="{FF2B5EF4-FFF2-40B4-BE49-F238E27FC236}">
                <a16:creationId xmlns:a16="http://schemas.microsoft.com/office/drawing/2014/main" id="{3072CB38-6676-41F1-8B43-D9A77593819E}"/>
              </a:ext>
            </a:extLst>
          </p:cNvPr>
          <p:cNvPicPr>
            <a:picLocks noGrp="1" noChangeAspect="1"/>
          </p:cNvPicPr>
          <p:nvPr>
            <p:ph idx="1"/>
          </p:nvPr>
        </p:nvPicPr>
        <p:blipFill>
          <a:blip r:embed="rId2"/>
          <a:stretch>
            <a:fillRect/>
          </a:stretch>
        </p:blipFill>
        <p:spPr>
          <a:xfrm>
            <a:off x="1752600" y="2158206"/>
            <a:ext cx="8686800" cy="3686175"/>
          </a:xfrm>
        </p:spPr>
      </p:pic>
    </p:spTree>
    <p:extLst>
      <p:ext uri="{BB962C8B-B14F-4D97-AF65-F5344CB8AC3E}">
        <p14:creationId xmlns:p14="http://schemas.microsoft.com/office/powerpoint/2010/main" val="2018318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DF12-B76B-421F-8A7E-ED58299C6E2A}"/>
              </a:ext>
            </a:extLst>
          </p:cNvPr>
          <p:cNvSpPr>
            <a:spLocks noGrp="1"/>
          </p:cNvSpPr>
          <p:nvPr>
            <p:ph type="title"/>
          </p:nvPr>
        </p:nvSpPr>
        <p:spPr/>
        <p:txBody>
          <a:bodyPr/>
          <a:lstStyle/>
          <a:p>
            <a:r>
              <a:rPr lang="en-GB" dirty="0"/>
              <a:t>Cache coherency</a:t>
            </a:r>
          </a:p>
        </p:txBody>
      </p:sp>
      <p:sp>
        <p:nvSpPr>
          <p:cNvPr id="3" name="Content Placeholder 2">
            <a:extLst>
              <a:ext uri="{FF2B5EF4-FFF2-40B4-BE49-F238E27FC236}">
                <a16:creationId xmlns:a16="http://schemas.microsoft.com/office/drawing/2014/main" id="{A974E141-0F6F-457B-B713-B30E0EFEDDAB}"/>
              </a:ext>
            </a:extLst>
          </p:cNvPr>
          <p:cNvSpPr>
            <a:spLocks noGrp="1"/>
          </p:cNvSpPr>
          <p:nvPr>
            <p:ph idx="1"/>
          </p:nvPr>
        </p:nvSpPr>
        <p:spPr>
          <a:xfrm>
            <a:off x="838200" y="3251199"/>
            <a:ext cx="10515600" cy="2925763"/>
          </a:xfrm>
        </p:spPr>
        <p:txBody>
          <a:bodyPr>
            <a:normAutofit/>
          </a:bodyPr>
          <a:lstStyle/>
          <a:p>
            <a:pPr algn="l"/>
            <a:r>
              <a:rPr lang="en-GB" sz="1800" b="0" i="0" u="none" strike="noStrike" baseline="0" dirty="0">
                <a:solidFill>
                  <a:srgbClr val="231F20"/>
                </a:solidFill>
                <a:latin typeface="Palatino-Roman"/>
              </a:rPr>
              <a:t>In a hierarchical storage structure, the same data may appear in different levels of the storage system. </a:t>
            </a:r>
          </a:p>
          <a:p>
            <a:pPr algn="l"/>
            <a:r>
              <a:rPr lang="en-GB" sz="1800" b="0" i="0" u="none" strike="noStrike" baseline="0" dirty="0">
                <a:solidFill>
                  <a:srgbClr val="231F20"/>
                </a:solidFill>
                <a:latin typeface="Palatino-Roman"/>
              </a:rPr>
              <a:t>For example, suppose that an integer A that is to be incremented by 1 is located in file B, and file B resides on magnetic disk. The increment operation proceeds by first issuing an I/O operation to copy the disk block on which A resides to main memory. This operation is followed by copying A to the cache and to an internal register. Thus, the copy of A appears in several places: on the magnetic disk, in main memory, in the cache, and in an internal register.</a:t>
            </a:r>
          </a:p>
          <a:p>
            <a:pPr algn="l"/>
            <a:endParaRPr lang="en-GB" dirty="0"/>
          </a:p>
        </p:txBody>
      </p:sp>
      <p:pic>
        <p:nvPicPr>
          <p:cNvPr id="5" name="Picture 4" descr="Graphical user interface, shape, arrow&#10;&#10;Description automatically generated">
            <a:extLst>
              <a:ext uri="{FF2B5EF4-FFF2-40B4-BE49-F238E27FC236}">
                <a16:creationId xmlns:a16="http://schemas.microsoft.com/office/drawing/2014/main" id="{C0EF3AC4-7DD0-443D-83E6-9F6BEB3C5643}"/>
              </a:ext>
            </a:extLst>
          </p:cNvPr>
          <p:cNvPicPr>
            <a:picLocks noChangeAspect="1"/>
          </p:cNvPicPr>
          <p:nvPr/>
        </p:nvPicPr>
        <p:blipFill>
          <a:blip r:embed="rId2"/>
          <a:stretch>
            <a:fillRect/>
          </a:stretch>
        </p:blipFill>
        <p:spPr>
          <a:xfrm>
            <a:off x="1812059" y="1690688"/>
            <a:ext cx="7810500" cy="1066800"/>
          </a:xfrm>
          <a:prstGeom prst="rect">
            <a:avLst/>
          </a:prstGeom>
        </p:spPr>
      </p:pic>
    </p:spTree>
    <p:extLst>
      <p:ext uri="{BB962C8B-B14F-4D97-AF65-F5344CB8AC3E}">
        <p14:creationId xmlns:p14="http://schemas.microsoft.com/office/powerpoint/2010/main" val="1847583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C341-C3D6-415A-BD41-7E87AA71333A}"/>
              </a:ext>
            </a:extLst>
          </p:cNvPr>
          <p:cNvSpPr>
            <a:spLocks noGrp="1"/>
          </p:cNvSpPr>
          <p:nvPr>
            <p:ph type="title"/>
          </p:nvPr>
        </p:nvSpPr>
        <p:spPr/>
        <p:txBody>
          <a:bodyPr/>
          <a:lstStyle/>
          <a:p>
            <a:r>
              <a:rPr lang="en-GB" dirty="0"/>
              <a:t>I/O Systems</a:t>
            </a:r>
          </a:p>
        </p:txBody>
      </p:sp>
      <p:sp>
        <p:nvSpPr>
          <p:cNvPr id="3" name="Content Placeholder 2">
            <a:extLst>
              <a:ext uri="{FF2B5EF4-FFF2-40B4-BE49-F238E27FC236}">
                <a16:creationId xmlns:a16="http://schemas.microsoft.com/office/drawing/2014/main" id="{3D1FFAD6-7964-4EDE-8429-3F32D1B45F6D}"/>
              </a:ext>
            </a:extLst>
          </p:cNvPr>
          <p:cNvSpPr>
            <a:spLocks noGrp="1"/>
          </p:cNvSpPr>
          <p:nvPr>
            <p:ph idx="1"/>
          </p:nvPr>
        </p:nvSpPr>
        <p:spPr/>
        <p:txBody>
          <a:bodyPr/>
          <a:lstStyle/>
          <a:p>
            <a:r>
              <a:rPr lang="en-GB" sz="1800" b="0" i="0" u="none" strike="noStrike" baseline="0" dirty="0">
                <a:solidFill>
                  <a:srgbClr val="231F20"/>
                </a:solidFill>
                <a:latin typeface="Palatino-Roman"/>
              </a:rPr>
              <a:t>The I/O subsystem consists of several components:</a:t>
            </a:r>
          </a:p>
          <a:p>
            <a:pPr lvl="1"/>
            <a:r>
              <a:rPr lang="en-GB" sz="1800" b="0" i="0" u="none" strike="noStrike" baseline="0" dirty="0">
                <a:solidFill>
                  <a:srgbClr val="231F20"/>
                </a:solidFill>
                <a:latin typeface="Palatino-Roman"/>
              </a:rPr>
              <a:t>A general device-driver interface</a:t>
            </a:r>
          </a:p>
          <a:p>
            <a:pPr lvl="1"/>
            <a:r>
              <a:rPr lang="en-GB" sz="1800" b="0" i="0" u="none" strike="noStrike" baseline="0" dirty="0">
                <a:solidFill>
                  <a:srgbClr val="231F20"/>
                </a:solidFill>
                <a:latin typeface="Palatino-Roman"/>
              </a:rPr>
              <a:t>Drivers for specific hardware devices</a:t>
            </a:r>
          </a:p>
          <a:p>
            <a:pPr lvl="1"/>
            <a:r>
              <a:rPr lang="en-GB" sz="1800" dirty="0">
                <a:solidFill>
                  <a:srgbClr val="231F20"/>
                </a:solidFill>
                <a:latin typeface="Palatino-Roman"/>
              </a:rPr>
              <a:t>A memory-management component that includes buffering, caching, and spooling</a:t>
            </a:r>
          </a:p>
          <a:p>
            <a:pPr algn="l"/>
            <a:endParaRPr lang="en-GB" dirty="0"/>
          </a:p>
        </p:txBody>
      </p:sp>
    </p:spTree>
    <p:extLst>
      <p:ext uri="{BB962C8B-B14F-4D97-AF65-F5344CB8AC3E}">
        <p14:creationId xmlns:p14="http://schemas.microsoft.com/office/powerpoint/2010/main" val="236221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D7530-BAE3-41C8-8543-9C2F122B691F}"/>
              </a:ext>
            </a:extLst>
          </p:cNvPr>
          <p:cNvSpPr>
            <a:spLocks noGrp="1"/>
          </p:cNvSpPr>
          <p:nvPr>
            <p:ph type="title"/>
          </p:nvPr>
        </p:nvSpPr>
        <p:spPr>
          <a:xfrm>
            <a:off x="1013691" y="2193925"/>
            <a:ext cx="10515600" cy="1325563"/>
          </a:xfrm>
        </p:spPr>
        <p:txBody>
          <a:bodyPr/>
          <a:lstStyle/>
          <a:p>
            <a:r>
              <a:rPr lang="en-GB" dirty="0"/>
              <a:t>Protection and Security</a:t>
            </a:r>
          </a:p>
        </p:txBody>
      </p:sp>
      <p:sp>
        <p:nvSpPr>
          <p:cNvPr id="3" name="Content Placeholder 2">
            <a:extLst>
              <a:ext uri="{FF2B5EF4-FFF2-40B4-BE49-F238E27FC236}">
                <a16:creationId xmlns:a16="http://schemas.microsoft.com/office/drawing/2014/main" id="{78FB5148-796B-4107-979D-9B4870486943}"/>
              </a:ext>
            </a:extLst>
          </p:cNvPr>
          <p:cNvSpPr>
            <a:spLocks noGrp="1"/>
          </p:cNvSpPr>
          <p:nvPr>
            <p:ph idx="1"/>
          </p:nvPr>
        </p:nvSpPr>
        <p:spPr>
          <a:xfrm>
            <a:off x="838200" y="4571999"/>
            <a:ext cx="10515600" cy="1604963"/>
          </a:xfrm>
        </p:spPr>
        <p:txBody>
          <a:bodyPr/>
          <a:lstStyle/>
          <a:p>
            <a:endParaRPr lang="en-GB" dirty="0"/>
          </a:p>
        </p:txBody>
      </p:sp>
    </p:spTree>
    <p:extLst>
      <p:ext uri="{BB962C8B-B14F-4D97-AF65-F5344CB8AC3E}">
        <p14:creationId xmlns:p14="http://schemas.microsoft.com/office/powerpoint/2010/main" val="1676179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8114-0CC5-4180-BD38-C9E3C9C02E7E}"/>
              </a:ext>
            </a:extLst>
          </p:cNvPr>
          <p:cNvSpPr>
            <a:spLocks noGrp="1"/>
          </p:cNvSpPr>
          <p:nvPr>
            <p:ph type="title"/>
          </p:nvPr>
        </p:nvSpPr>
        <p:spPr/>
        <p:txBody>
          <a:bodyPr/>
          <a:lstStyle/>
          <a:p>
            <a:r>
              <a:rPr lang="en-GB" dirty="0"/>
              <a:t>Virtualization</a:t>
            </a:r>
          </a:p>
        </p:txBody>
      </p:sp>
      <p:sp>
        <p:nvSpPr>
          <p:cNvPr id="3" name="Content Placeholder 2">
            <a:extLst>
              <a:ext uri="{FF2B5EF4-FFF2-40B4-BE49-F238E27FC236}">
                <a16:creationId xmlns:a16="http://schemas.microsoft.com/office/drawing/2014/main" id="{8EF889B7-859F-41D3-91EF-BE9CFC106924}"/>
              </a:ext>
            </a:extLst>
          </p:cNvPr>
          <p:cNvSpPr>
            <a:spLocks noGrp="1"/>
          </p:cNvSpPr>
          <p:nvPr>
            <p:ph idx="1"/>
          </p:nvPr>
        </p:nvSpPr>
        <p:spPr/>
        <p:txBody>
          <a:bodyPr/>
          <a:lstStyle/>
          <a:p>
            <a:pPr algn="l"/>
            <a:r>
              <a:rPr lang="en-GB" sz="1800" b="0" i="0" u="none" strike="noStrike" baseline="0" dirty="0">
                <a:solidFill>
                  <a:srgbClr val="231F20"/>
                </a:solidFill>
                <a:latin typeface="Palatino-Roman"/>
              </a:rPr>
              <a:t>Virtualization is a technology that allows operating systems to run as applications within other operating systems.</a:t>
            </a:r>
          </a:p>
          <a:p>
            <a:pPr lvl="1"/>
            <a:r>
              <a:rPr lang="en-GB" sz="1400" dirty="0">
                <a:solidFill>
                  <a:srgbClr val="231F20"/>
                </a:solidFill>
                <a:latin typeface="Palatino-Roman"/>
              </a:rPr>
              <a:t>allow an entire operating system written for one platform to run on another.</a:t>
            </a:r>
          </a:p>
          <a:p>
            <a:pPr algn="l"/>
            <a:r>
              <a:rPr lang="en-GB" sz="1800" b="1" i="0" u="none" strike="noStrike" baseline="0" dirty="0">
                <a:solidFill>
                  <a:srgbClr val="00AEF0"/>
                </a:solidFill>
                <a:latin typeface="Palatino-Bold"/>
              </a:rPr>
              <a:t>Emulation </a:t>
            </a:r>
            <a:r>
              <a:rPr lang="en-GB" sz="1800" b="0" i="0" u="none" strike="noStrike" baseline="0" dirty="0">
                <a:solidFill>
                  <a:srgbClr val="231F20"/>
                </a:solidFill>
                <a:latin typeface="Palatino-Roman"/>
              </a:rPr>
              <a:t>is used when the source CPU type is different from the target CPU type. For example, when Apple switched from the IBM Power CPU to the Intel x86 CPU for its desktop and laptop computers, it included an emulation facility called </a:t>
            </a:r>
            <a:r>
              <a:rPr lang="en-GB" sz="1800" b="0" i="0" u="none" strike="noStrike" baseline="0" dirty="0">
                <a:solidFill>
                  <a:srgbClr val="231F20"/>
                </a:solidFill>
                <a:latin typeface="NimbusRomNo9L-Regu"/>
              </a:rPr>
              <a:t>“</a:t>
            </a:r>
            <a:r>
              <a:rPr lang="en-GB" sz="1800" b="0" i="0" u="none" strike="noStrike" baseline="0" dirty="0">
                <a:solidFill>
                  <a:srgbClr val="231F20"/>
                </a:solidFill>
                <a:latin typeface="Palatino-Roman"/>
              </a:rPr>
              <a:t>Rosetta,</a:t>
            </a:r>
            <a:r>
              <a:rPr lang="en-GB" sz="1800" b="0" i="0" u="none" strike="noStrike" baseline="0" dirty="0">
                <a:solidFill>
                  <a:srgbClr val="231F20"/>
                </a:solidFill>
                <a:latin typeface="NimbusRomNo9L-Regu"/>
              </a:rPr>
              <a:t>” </a:t>
            </a:r>
            <a:r>
              <a:rPr lang="en-GB" sz="1800" b="0" i="0" u="none" strike="noStrike" baseline="0" dirty="0">
                <a:solidFill>
                  <a:srgbClr val="231F20"/>
                </a:solidFill>
                <a:latin typeface="Palatino-Roman"/>
              </a:rPr>
              <a:t>which allowed applications compiled for the IBM CPU to run on the Intel CPU.</a:t>
            </a:r>
          </a:p>
          <a:p>
            <a:pPr lvl="1"/>
            <a:r>
              <a:rPr lang="en-GB" sz="1400" b="0" i="0" u="none" strike="noStrike" baseline="0" dirty="0">
                <a:solidFill>
                  <a:srgbClr val="231F20"/>
                </a:solidFill>
                <a:latin typeface="Palatino-Roman"/>
              </a:rPr>
              <a:t>Emulation comes at a heavy price</a:t>
            </a:r>
            <a:r>
              <a:rPr lang="en-GB" sz="1400" dirty="0">
                <a:solidFill>
                  <a:srgbClr val="231F20"/>
                </a:solidFill>
                <a:latin typeface="Palatino-Roman"/>
              </a:rPr>
              <a:t>, </a:t>
            </a:r>
            <a:r>
              <a:rPr lang="en-GB" sz="1400" b="0" i="0" u="none" strike="noStrike" baseline="0" dirty="0">
                <a:solidFill>
                  <a:srgbClr val="231F20"/>
                </a:solidFill>
                <a:latin typeface="Palatino-Roman"/>
              </a:rPr>
              <a:t>the emulated code can run much slower than the native code.</a:t>
            </a:r>
            <a:endParaRPr lang="en-GB" sz="1000" dirty="0">
              <a:solidFill>
                <a:srgbClr val="231F20"/>
              </a:solidFill>
              <a:latin typeface="Palatino-Roman"/>
            </a:endParaRPr>
          </a:p>
        </p:txBody>
      </p:sp>
    </p:spTree>
    <p:extLst>
      <p:ext uri="{BB962C8B-B14F-4D97-AF65-F5344CB8AC3E}">
        <p14:creationId xmlns:p14="http://schemas.microsoft.com/office/powerpoint/2010/main" val="824293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040E-E831-40EE-8C96-BB0FF43B101C}"/>
              </a:ext>
            </a:extLst>
          </p:cNvPr>
          <p:cNvSpPr>
            <a:spLocks noGrp="1"/>
          </p:cNvSpPr>
          <p:nvPr>
            <p:ph type="title"/>
          </p:nvPr>
        </p:nvSpPr>
        <p:spPr/>
        <p:txBody>
          <a:bodyPr/>
          <a:lstStyle/>
          <a:p>
            <a:r>
              <a:rPr lang="en-GB" dirty="0"/>
              <a:t>Cloud Computing</a:t>
            </a:r>
          </a:p>
        </p:txBody>
      </p:sp>
      <p:sp>
        <p:nvSpPr>
          <p:cNvPr id="3" name="Content Placeholder 2">
            <a:extLst>
              <a:ext uri="{FF2B5EF4-FFF2-40B4-BE49-F238E27FC236}">
                <a16:creationId xmlns:a16="http://schemas.microsoft.com/office/drawing/2014/main" id="{9DEC1106-16B4-4A4A-B40B-8381532048BD}"/>
              </a:ext>
            </a:extLst>
          </p:cNvPr>
          <p:cNvSpPr>
            <a:spLocks noGrp="1"/>
          </p:cNvSpPr>
          <p:nvPr>
            <p:ph idx="1"/>
          </p:nvPr>
        </p:nvSpPr>
        <p:spPr/>
        <p:txBody>
          <a:bodyPr>
            <a:normAutofit/>
          </a:bodyPr>
          <a:lstStyle/>
          <a:p>
            <a:pPr algn="l"/>
            <a:r>
              <a:rPr lang="en-GB" sz="1800" b="1" i="0" u="none" strike="noStrike" baseline="0" dirty="0">
                <a:solidFill>
                  <a:srgbClr val="00AEF0"/>
                </a:solidFill>
                <a:latin typeface="Palatino-Bold"/>
              </a:rPr>
              <a:t>Cloud computing </a:t>
            </a:r>
            <a:r>
              <a:rPr lang="en-GB" sz="1800" b="0" i="0" u="none" strike="noStrike" baseline="0" dirty="0">
                <a:solidFill>
                  <a:srgbClr val="231F20"/>
                </a:solidFill>
                <a:latin typeface="Palatino-Roman"/>
              </a:rPr>
              <a:t>is a type of computing that delivers computing, storage, and even applications as a service across a network.</a:t>
            </a:r>
          </a:p>
          <a:p>
            <a:pPr lvl="1"/>
            <a:r>
              <a:rPr lang="en-GB" sz="1800" dirty="0">
                <a:solidFill>
                  <a:srgbClr val="231F20"/>
                </a:solidFill>
                <a:latin typeface="Palatino-Roman"/>
              </a:rPr>
              <a:t>For example, the Amazon Elastic Compute Cloud facility has </a:t>
            </a:r>
            <a:r>
              <a:rPr lang="en-GB" sz="1800" b="0" i="0" u="none" strike="noStrike" baseline="0" dirty="0">
                <a:solidFill>
                  <a:srgbClr val="231F20"/>
                </a:solidFill>
                <a:latin typeface="Palatino-Roman"/>
              </a:rPr>
              <a:t>thousands of servers, millions of virtual machines, and petabytes of storage available for use by anyone on the Internet.</a:t>
            </a:r>
          </a:p>
          <a:p>
            <a:r>
              <a:rPr lang="en-GB" sz="1800" b="0" i="0" u="none" strike="noStrike" baseline="0" dirty="0">
                <a:solidFill>
                  <a:srgbClr val="231F20"/>
                </a:solidFill>
                <a:latin typeface="Palatino-Roman"/>
              </a:rPr>
              <a:t>There are actually many types of cloud computing, including the following:</a:t>
            </a:r>
            <a:endParaRPr lang="en-GB" sz="1800" dirty="0">
              <a:solidFill>
                <a:srgbClr val="231F20"/>
              </a:solidFill>
              <a:latin typeface="Palatino-Roman"/>
            </a:endParaRPr>
          </a:p>
          <a:p>
            <a:pPr lvl="1"/>
            <a:r>
              <a:rPr lang="en-GB" sz="1400" b="1" i="0" u="none" strike="noStrike" baseline="0" dirty="0">
                <a:solidFill>
                  <a:srgbClr val="00AEF0"/>
                </a:solidFill>
                <a:latin typeface="Palatino-Bold"/>
              </a:rPr>
              <a:t>Public cloud</a:t>
            </a:r>
            <a:r>
              <a:rPr lang="en-GB" sz="1400" b="0" i="0" u="none" strike="noStrike" baseline="0" dirty="0">
                <a:solidFill>
                  <a:srgbClr val="231F20"/>
                </a:solidFill>
                <a:latin typeface="Palatino-Roman"/>
              </a:rPr>
              <a:t>—a cloud available via the Internet to anyone willing to pay for the services</a:t>
            </a:r>
          </a:p>
          <a:p>
            <a:pPr lvl="1"/>
            <a:r>
              <a:rPr lang="en-GB" sz="1400" b="1" i="0" u="none" strike="noStrike" baseline="0" dirty="0">
                <a:solidFill>
                  <a:srgbClr val="00AEF0"/>
                </a:solidFill>
                <a:latin typeface="Palatino-Bold"/>
              </a:rPr>
              <a:t>Private cloud</a:t>
            </a:r>
            <a:r>
              <a:rPr lang="en-GB" sz="1400" b="0" i="0" u="none" strike="noStrike" baseline="0" dirty="0">
                <a:solidFill>
                  <a:srgbClr val="231F20"/>
                </a:solidFill>
                <a:latin typeface="Palatino-Roman"/>
              </a:rPr>
              <a:t>—a cloud run by a company for that company’s own use</a:t>
            </a:r>
          </a:p>
          <a:p>
            <a:pPr lvl="1"/>
            <a:r>
              <a:rPr lang="en-GB" sz="1400" b="1" i="0" u="none" strike="noStrike" baseline="0" dirty="0">
                <a:solidFill>
                  <a:srgbClr val="00AEF0"/>
                </a:solidFill>
                <a:latin typeface="Palatino-Bold"/>
              </a:rPr>
              <a:t>Hybrid cloud</a:t>
            </a:r>
            <a:r>
              <a:rPr lang="en-GB" sz="1400" b="0" i="0" u="none" strike="noStrike" baseline="0" dirty="0">
                <a:solidFill>
                  <a:srgbClr val="231F20"/>
                </a:solidFill>
                <a:latin typeface="Palatino-Roman"/>
              </a:rPr>
              <a:t>—a cloud that includes both public and private cloud components</a:t>
            </a:r>
          </a:p>
          <a:p>
            <a:pPr lvl="1"/>
            <a:r>
              <a:rPr lang="en-GB" sz="1400" b="0" i="0" u="none" strike="noStrike" baseline="0" dirty="0">
                <a:solidFill>
                  <a:srgbClr val="231F20"/>
                </a:solidFill>
                <a:latin typeface="Palatino-Roman"/>
              </a:rPr>
              <a:t>Software as a service </a:t>
            </a:r>
            <a:r>
              <a:rPr lang="en-GB" sz="1400" b="1" i="0" u="none" strike="noStrike" baseline="0" dirty="0">
                <a:solidFill>
                  <a:srgbClr val="231F20"/>
                </a:solidFill>
                <a:latin typeface="Palatino-Bold"/>
              </a:rPr>
              <a:t>(</a:t>
            </a:r>
            <a:r>
              <a:rPr lang="en-GB" sz="1400" b="1" i="0" u="none" strike="noStrike" baseline="0" dirty="0">
                <a:solidFill>
                  <a:srgbClr val="00AEF0"/>
                </a:solidFill>
                <a:latin typeface="Palatino-Bold"/>
              </a:rPr>
              <a:t>SaaS</a:t>
            </a:r>
            <a:r>
              <a:rPr lang="en-GB" sz="1400" b="1" i="0" u="none" strike="noStrike" baseline="0" dirty="0">
                <a:solidFill>
                  <a:srgbClr val="231F20"/>
                </a:solidFill>
                <a:latin typeface="Palatino-Bold"/>
              </a:rPr>
              <a:t>)</a:t>
            </a:r>
            <a:r>
              <a:rPr lang="en-GB" sz="1400" b="0" i="0" u="none" strike="noStrike" baseline="0" dirty="0">
                <a:solidFill>
                  <a:srgbClr val="231F20"/>
                </a:solidFill>
                <a:latin typeface="Palatino-Roman"/>
              </a:rPr>
              <a:t>—one or more applications (such as word processors or spreadsheets) available via the Internet</a:t>
            </a:r>
          </a:p>
          <a:p>
            <a:pPr lvl="1"/>
            <a:r>
              <a:rPr lang="en-GB" sz="1400" b="0" i="0" u="none" strike="noStrike" baseline="0" dirty="0">
                <a:solidFill>
                  <a:srgbClr val="231F20"/>
                </a:solidFill>
                <a:latin typeface="Palatino-Roman"/>
              </a:rPr>
              <a:t>Platform as a service </a:t>
            </a:r>
            <a:r>
              <a:rPr lang="en-GB" sz="1400" b="1" i="0" u="none" strike="noStrike" baseline="0" dirty="0">
                <a:solidFill>
                  <a:srgbClr val="231F20"/>
                </a:solidFill>
                <a:latin typeface="Palatino-Bold"/>
              </a:rPr>
              <a:t>(</a:t>
            </a:r>
            <a:r>
              <a:rPr lang="en-GB" sz="1400" b="1" i="0" u="none" strike="noStrike" baseline="0" dirty="0">
                <a:solidFill>
                  <a:srgbClr val="00AEF0"/>
                </a:solidFill>
                <a:latin typeface="Palatino-Bold"/>
              </a:rPr>
              <a:t>PaaS</a:t>
            </a:r>
            <a:r>
              <a:rPr lang="en-GB" sz="1400" b="1" i="0" u="none" strike="noStrike" baseline="0" dirty="0">
                <a:solidFill>
                  <a:srgbClr val="231F20"/>
                </a:solidFill>
                <a:latin typeface="Palatino-Bold"/>
              </a:rPr>
              <a:t>)</a:t>
            </a:r>
            <a:r>
              <a:rPr lang="en-GB" sz="1400" b="0" i="0" u="none" strike="noStrike" baseline="0" dirty="0">
                <a:solidFill>
                  <a:srgbClr val="231F20"/>
                </a:solidFill>
                <a:latin typeface="Palatino-Roman"/>
              </a:rPr>
              <a:t>—a software stack ready for application use via the Internet (for example, a database server)</a:t>
            </a:r>
          </a:p>
          <a:p>
            <a:pPr lvl="1"/>
            <a:r>
              <a:rPr lang="en-GB" sz="1400" b="0" i="0" u="none" strike="noStrike" baseline="0" dirty="0">
                <a:solidFill>
                  <a:srgbClr val="231F20"/>
                </a:solidFill>
                <a:latin typeface="Palatino-Roman"/>
              </a:rPr>
              <a:t>Infrastructure as a service </a:t>
            </a:r>
            <a:r>
              <a:rPr lang="en-GB" sz="1400" b="1" i="0" u="none" strike="noStrike" baseline="0" dirty="0">
                <a:solidFill>
                  <a:srgbClr val="231F20"/>
                </a:solidFill>
                <a:latin typeface="Palatino-Bold"/>
              </a:rPr>
              <a:t>(</a:t>
            </a:r>
            <a:r>
              <a:rPr lang="en-GB" sz="1400" b="1" i="0" u="none" strike="noStrike" baseline="0" dirty="0">
                <a:solidFill>
                  <a:srgbClr val="00AEF0"/>
                </a:solidFill>
                <a:latin typeface="Palatino-Bold"/>
              </a:rPr>
              <a:t>IaaS</a:t>
            </a:r>
            <a:r>
              <a:rPr lang="en-GB" sz="1400" b="1" i="0" u="none" strike="noStrike" baseline="0" dirty="0">
                <a:solidFill>
                  <a:srgbClr val="231F20"/>
                </a:solidFill>
                <a:latin typeface="Palatino-Bold"/>
              </a:rPr>
              <a:t>)</a:t>
            </a:r>
            <a:r>
              <a:rPr lang="en-GB" sz="1400" b="0" i="0" u="none" strike="noStrike" baseline="0" dirty="0">
                <a:solidFill>
                  <a:srgbClr val="231F20"/>
                </a:solidFill>
                <a:latin typeface="Palatino-Roman"/>
              </a:rPr>
              <a:t>—servers or storage available over the Internet (for example, storage available for making backup copies of production data)</a:t>
            </a:r>
            <a:endParaRPr lang="en-GB" dirty="0"/>
          </a:p>
        </p:txBody>
      </p:sp>
    </p:spTree>
    <p:extLst>
      <p:ext uri="{BB962C8B-B14F-4D97-AF65-F5344CB8AC3E}">
        <p14:creationId xmlns:p14="http://schemas.microsoft.com/office/powerpoint/2010/main" val="279508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71D8-B73C-4A97-8BC5-3302538A1025}"/>
              </a:ext>
            </a:extLst>
          </p:cNvPr>
          <p:cNvSpPr>
            <a:spLocks noGrp="1"/>
          </p:cNvSpPr>
          <p:nvPr>
            <p:ph type="title"/>
          </p:nvPr>
        </p:nvSpPr>
        <p:spPr/>
        <p:txBody>
          <a:bodyPr/>
          <a:lstStyle/>
          <a:p>
            <a:r>
              <a:rPr lang="en-GB" dirty="0"/>
              <a:t>Real-Time Embedded Systems</a:t>
            </a:r>
          </a:p>
        </p:txBody>
      </p:sp>
      <p:sp>
        <p:nvSpPr>
          <p:cNvPr id="3" name="Content Placeholder 2">
            <a:extLst>
              <a:ext uri="{FF2B5EF4-FFF2-40B4-BE49-F238E27FC236}">
                <a16:creationId xmlns:a16="http://schemas.microsoft.com/office/drawing/2014/main" id="{3C72A3F9-C951-41E1-8D17-649314CFE427}"/>
              </a:ext>
            </a:extLst>
          </p:cNvPr>
          <p:cNvSpPr>
            <a:spLocks noGrp="1"/>
          </p:cNvSpPr>
          <p:nvPr>
            <p:ph idx="1"/>
          </p:nvPr>
        </p:nvSpPr>
        <p:spPr/>
        <p:txBody>
          <a:bodyPr/>
          <a:lstStyle/>
          <a:p>
            <a:pPr algn="l"/>
            <a:r>
              <a:rPr lang="en-GB" sz="1800" b="0" i="0" u="none" strike="noStrike" baseline="0" dirty="0">
                <a:solidFill>
                  <a:srgbClr val="231F20"/>
                </a:solidFill>
                <a:latin typeface="Palatino-Roman"/>
              </a:rPr>
              <a:t>Embedded computers are the most prevalent form of computers in existence. These devices are found everywhere, from car engines and manufacturing robots to DVDs and microwave ovens.</a:t>
            </a:r>
          </a:p>
          <a:p>
            <a:pPr algn="l"/>
            <a:r>
              <a:rPr lang="en-GB" sz="1800" b="0" i="0" u="none" strike="noStrike" baseline="0" dirty="0">
                <a:solidFill>
                  <a:srgbClr val="231F20"/>
                </a:solidFill>
                <a:latin typeface="Palatino-Roman"/>
              </a:rPr>
              <a:t>Embedded systems almost always run </a:t>
            </a:r>
            <a:r>
              <a:rPr lang="en-GB" sz="1800" b="1" i="0" u="none" strike="noStrike" baseline="0" dirty="0">
                <a:solidFill>
                  <a:srgbClr val="00AEF0"/>
                </a:solidFill>
                <a:latin typeface="Palatino-Bold"/>
              </a:rPr>
              <a:t>real-time operating systems</a:t>
            </a:r>
            <a:r>
              <a:rPr lang="en-GB" sz="1800" b="0" i="0" u="none" strike="noStrike" baseline="0" dirty="0">
                <a:solidFill>
                  <a:srgbClr val="231F20"/>
                </a:solidFill>
                <a:latin typeface="Palatino-Roman"/>
              </a:rPr>
              <a:t>. A real-time system is used when rigid time requirements have been placed on the operation of a processor or the flow of data.</a:t>
            </a:r>
          </a:p>
          <a:p>
            <a:pPr algn="l"/>
            <a:r>
              <a:rPr lang="en-GB" sz="1800" b="0" i="0" u="none" strike="noStrike" baseline="0" dirty="0">
                <a:solidFill>
                  <a:srgbClr val="231F20"/>
                </a:solidFill>
                <a:latin typeface="Palatino-Roman"/>
              </a:rPr>
              <a:t>A real-time system has well-defined, fixed time constraints. Processing </a:t>
            </a:r>
            <a:r>
              <a:rPr lang="en-GB" sz="1800" b="1" i="1" u="none" strike="noStrike" baseline="0" dirty="0">
                <a:solidFill>
                  <a:srgbClr val="231F20"/>
                </a:solidFill>
                <a:latin typeface="Palatino-BoldItalic"/>
              </a:rPr>
              <a:t>must </a:t>
            </a:r>
            <a:r>
              <a:rPr lang="en-GB" sz="1800" b="0" i="0" u="none" strike="noStrike" baseline="0" dirty="0">
                <a:solidFill>
                  <a:srgbClr val="231F20"/>
                </a:solidFill>
                <a:latin typeface="Palatino-Roman"/>
              </a:rPr>
              <a:t>be done within the defined constraints, or the system will fail.</a:t>
            </a:r>
            <a:endParaRPr lang="en-GB" dirty="0"/>
          </a:p>
        </p:txBody>
      </p:sp>
    </p:spTree>
    <p:extLst>
      <p:ext uri="{BB962C8B-B14F-4D97-AF65-F5344CB8AC3E}">
        <p14:creationId xmlns:p14="http://schemas.microsoft.com/office/powerpoint/2010/main" val="2087243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5F29-32C1-46AC-B47C-A9131BBAE652}"/>
              </a:ext>
            </a:extLst>
          </p:cNvPr>
          <p:cNvSpPr>
            <a:spLocks noGrp="1"/>
          </p:cNvSpPr>
          <p:nvPr>
            <p:ph type="title"/>
          </p:nvPr>
        </p:nvSpPr>
        <p:spPr/>
        <p:txBody>
          <a:bodyPr/>
          <a:lstStyle/>
          <a:p>
            <a:r>
              <a:rPr lang="en-GB" dirty="0"/>
              <a:t>Open-Source Operating Systems</a:t>
            </a:r>
          </a:p>
        </p:txBody>
      </p:sp>
      <p:sp>
        <p:nvSpPr>
          <p:cNvPr id="3" name="Content Placeholder 2">
            <a:extLst>
              <a:ext uri="{FF2B5EF4-FFF2-40B4-BE49-F238E27FC236}">
                <a16:creationId xmlns:a16="http://schemas.microsoft.com/office/drawing/2014/main" id="{1564618B-0687-4A34-8CC7-F84405AD8BD6}"/>
              </a:ext>
            </a:extLst>
          </p:cNvPr>
          <p:cNvSpPr>
            <a:spLocks noGrp="1"/>
          </p:cNvSpPr>
          <p:nvPr>
            <p:ph idx="1"/>
          </p:nvPr>
        </p:nvSpPr>
        <p:spPr/>
        <p:txBody>
          <a:bodyPr/>
          <a:lstStyle/>
          <a:p>
            <a:pPr algn="l"/>
            <a:r>
              <a:rPr lang="en-GB" sz="1800" b="1" i="0" u="none" strike="noStrike" baseline="0" dirty="0">
                <a:solidFill>
                  <a:srgbClr val="00AEF0"/>
                </a:solidFill>
                <a:latin typeface="Palatino-Bold"/>
              </a:rPr>
              <a:t>Open-source operating systems </a:t>
            </a:r>
            <a:r>
              <a:rPr lang="en-GB" sz="1800" b="0" i="0" u="none" strike="noStrike" baseline="0" dirty="0">
                <a:solidFill>
                  <a:srgbClr val="231F20"/>
                </a:solidFill>
                <a:latin typeface="Palatino-Roman"/>
              </a:rPr>
              <a:t>are those available in source-code format rather than as compiled binary code. Linux is the most famous opensource operating system.</a:t>
            </a:r>
          </a:p>
          <a:p>
            <a:pPr algn="l"/>
            <a:r>
              <a:rPr lang="en-GB" sz="1800" b="0" i="0" u="none" strike="noStrike" baseline="0" dirty="0">
                <a:solidFill>
                  <a:srgbClr val="231F20"/>
                </a:solidFill>
                <a:latin typeface="Palatino-Roman"/>
              </a:rPr>
              <a:t>Microsoft Windows is a well-known example of the </a:t>
            </a:r>
            <a:r>
              <a:rPr lang="en-GB" sz="1800" b="1" i="0" u="none" strike="noStrike" baseline="0" dirty="0">
                <a:solidFill>
                  <a:srgbClr val="00AEF0"/>
                </a:solidFill>
                <a:latin typeface="Palatino-Bold"/>
              </a:rPr>
              <a:t>closed-source </a:t>
            </a:r>
            <a:r>
              <a:rPr lang="en-GB" sz="1800" b="0" i="0" u="none" strike="noStrike" baseline="0" dirty="0">
                <a:solidFill>
                  <a:srgbClr val="231F20"/>
                </a:solidFill>
                <a:latin typeface="Palatino-Roman"/>
              </a:rPr>
              <a:t>approach. </a:t>
            </a:r>
          </a:p>
          <a:p>
            <a:pPr algn="l"/>
            <a:r>
              <a:rPr lang="en-GB" sz="1800" b="0" i="0" u="none" strike="noStrike" baseline="0" dirty="0">
                <a:solidFill>
                  <a:srgbClr val="231F20"/>
                </a:solidFill>
                <a:latin typeface="Palatino-Roman"/>
              </a:rPr>
              <a:t>Apple’s Mac OS X and iOS operating systems comprise a hybrid approach. They contain an open-source kernel named Darwin yet include proprietary, closed-source components as well.</a:t>
            </a:r>
            <a:endParaRPr lang="en-GB" dirty="0"/>
          </a:p>
        </p:txBody>
      </p:sp>
    </p:spTree>
    <p:extLst>
      <p:ext uri="{BB962C8B-B14F-4D97-AF65-F5344CB8AC3E}">
        <p14:creationId xmlns:p14="http://schemas.microsoft.com/office/powerpoint/2010/main" val="3255946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1584</Words>
  <Application>Microsoft Office PowerPoint</Application>
  <PresentationFormat>Widescreen</PresentationFormat>
  <Paragraphs>97</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Calibri</vt:lpstr>
      <vt:lpstr>Calibri Light</vt:lpstr>
      <vt:lpstr>HelveticaNeue-MediumExt</vt:lpstr>
      <vt:lpstr>NimbusRomNo9L-Regu</vt:lpstr>
      <vt:lpstr>Palatino-Bold</vt:lpstr>
      <vt:lpstr>Palatino-BoldItalic</vt:lpstr>
      <vt:lpstr>Palatino-Roman</vt:lpstr>
      <vt:lpstr>Tahoma</vt:lpstr>
      <vt:lpstr>Times New Roman</vt:lpstr>
      <vt:lpstr>Office Theme</vt:lpstr>
      <vt:lpstr>Course Title: Operating Systems Course Code: CS321</vt:lpstr>
      <vt:lpstr>Reference</vt:lpstr>
      <vt:lpstr>Introduction</vt:lpstr>
      <vt:lpstr>Abstract view of the components of a computer system</vt:lpstr>
      <vt:lpstr>What Operating Systems Do</vt:lpstr>
      <vt:lpstr>Bootstrap program</vt:lpstr>
      <vt:lpstr>Interrupt</vt:lpstr>
      <vt:lpstr>Storage-device hierarchy</vt:lpstr>
      <vt:lpstr>Direct memory access (DMA)</vt:lpstr>
      <vt:lpstr>Dual-Mode and Multimode Operation</vt:lpstr>
      <vt:lpstr>Process Management</vt:lpstr>
      <vt:lpstr>Memory Management</vt:lpstr>
      <vt:lpstr>Storage Management</vt:lpstr>
      <vt:lpstr>Caching</vt:lpstr>
      <vt:lpstr>Cache coherency</vt:lpstr>
      <vt:lpstr>I/O Systems</vt:lpstr>
      <vt:lpstr>Protection and Security</vt:lpstr>
      <vt:lpstr>Virtualization</vt:lpstr>
      <vt:lpstr>Cloud Computing</vt:lpstr>
      <vt:lpstr>Real-Time Embedded Systems</vt:lpstr>
      <vt:lpstr>Open-Source Operating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 Programming Fundamentals Course Code: CS141</dc:title>
  <dc:creator>Khaled Hussain</dc:creator>
  <cp:lastModifiedBy>MOSTAFA KHALED</cp:lastModifiedBy>
  <cp:revision>14</cp:revision>
  <dcterms:created xsi:type="dcterms:W3CDTF">2021-08-23T13:10:32Z</dcterms:created>
  <dcterms:modified xsi:type="dcterms:W3CDTF">2022-02-17T18:31:47Z</dcterms:modified>
</cp:coreProperties>
</file>